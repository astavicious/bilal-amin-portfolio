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bf4a0b0fd54789" /><Relationship Type="http://schemas.openxmlformats.org/officeDocument/2006/relationships/extended-properties" Target="/docProps/app.xml" Id="Ra29008c7d31b4d30" /><Relationship Type="http://schemas.openxmlformats.org/officeDocument/2006/relationships/officeDocument" Target="/ppt/presentation.xml" Id="R0b44293aa7df4fa0" /></Relationships>
</file>

<file path=ppt/presentation.xml><?xml version="1.0" encoding="utf-8"?>
<p:presentation xmlns:p="http://schemas.openxmlformats.org/presentationml/2006/main">
  <p:sldMasterIdLst>
    <p:sldMasterId xmlns:r="http://schemas.openxmlformats.org/officeDocument/2006/relationships" id="2147483648" r:id="R27eccf702edd4be9"/>
  </p:sldMasterIdLst>
  <p:notesMasterIdLst>
    <p:notesMasterId xmlns:r="http://schemas.openxmlformats.org/officeDocument/2006/relationships" r:id="R99f1042745284c1f"/>
  </p:notesMasterIdLst>
  <p:sldIdLst>
    <p:sldId xmlns:r="http://schemas.openxmlformats.org/officeDocument/2006/relationships" id="256" r:id="Ra29d0b037d504a74"/>
    <p:sldId xmlns:r="http://schemas.openxmlformats.org/officeDocument/2006/relationships" id="257" r:id="Ra068b31099584adf"/>
    <p:sldId xmlns:r="http://schemas.openxmlformats.org/officeDocument/2006/relationships" id="258" r:id="R9e634c2139084b99"/>
    <p:sldId xmlns:r="http://schemas.openxmlformats.org/officeDocument/2006/relationships" id="259" r:id="R97791309d67044b6"/>
    <p:sldId xmlns:r="http://schemas.openxmlformats.org/officeDocument/2006/relationships" id="260" r:id="R15364bd702be43d6"/>
    <p:sldId xmlns:r="http://schemas.openxmlformats.org/officeDocument/2006/relationships" id="261" r:id="R34fc3e332e8e41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eca4b816394c91" /><Relationship Type="http://schemas.openxmlformats.org/officeDocument/2006/relationships/slideMaster" Target="/ppt/slideMasters/slideMaster1.xml" Id="R27eccf702edd4be9" /><Relationship Type="http://schemas.openxmlformats.org/officeDocument/2006/relationships/notesMaster" Target="/ppt/notesMasters/notesMaster1.xml" Id="R99f1042745284c1f" /><Relationship Type="http://schemas.openxmlformats.org/officeDocument/2006/relationships/presProps" Target="/ppt/presProps.xml" Id="R0550a76953c8475d" /><Relationship Type="http://schemas.openxmlformats.org/officeDocument/2006/relationships/tableStyles" Target="/ppt/tableStyles.xml" Id="R04acb565123f4f67" /><Relationship Type="http://schemas.openxmlformats.org/officeDocument/2006/relationships/slide" Target="/ppt/slides/slide1.xml" Id="Ra29d0b037d504a74" /><Relationship Type="http://schemas.openxmlformats.org/officeDocument/2006/relationships/slide" Target="/ppt/slides/slide2.xml" Id="Ra068b31099584adf" /><Relationship Type="http://schemas.openxmlformats.org/officeDocument/2006/relationships/slide" Target="/ppt/slides/slide3.xml" Id="R9e634c2139084b99" /><Relationship Type="http://schemas.openxmlformats.org/officeDocument/2006/relationships/slide" Target="/ppt/slides/slide4.xml" Id="R97791309d67044b6" /><Relationship Type="http://schemas.openxmlformats.org/officeDocument/2006/relationships/slide" Target="/ppt/slides/slide5.xml" Id="R15364bd702be43d6" /><Relationship Type="http://schemas.openxmlformats.org/officeDocument/2006/relationships/slide" Target="/ppt/slides/slide6.xml" Id="R34fc3e332e8e41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e62999e2f04c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a638a5c30e4f30" /><Relationship Type="http://schemas.openxmlformats.org/officeDocument/2006/relationships/notesMaster" Target="/ppt/notesMasters/notesMaster1.xml" Id="R7b301348b6ed48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c83c0511a74cee" /><Relationship Type="http://schemas.openxmlformats.org/officeDocument/2006/relationships/notesMaster" Target="/ppt/notesMasters/notesMaster1.xml" Id="Rf0dd15fc03454c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4156dfacb048cc" /><Relationship Type="http://schemas.openxmlformats.org/officeDocument/2006/relationships/notesMaster" Target="/ppt/notesMasters/notesMaster1.xml" Id="R780760f790cd46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adae1f435748ab" /><Relationship Type="http://schemas.openxmlformats.org/officeDocument/2006/relationships/notesMaster" Target="/ppt/notesMasters/notesMaster1.xml" Id="Rd92db8d1da0841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7b9f3902d343cf" /><Relationship Type="http://schemas.openxmlformats.org/officeDocument/2006/relationships/notesMaster" Target="/ppt/notesMasters/notesMaster1.xml" Id="Rf1ba064efa324ed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778460cdb247bb" /><Relationship Type="http://schemas.openxmlformats.org/officeDocument/2006/relationships/notesMaster" Target="/ppt/notesMasters/notesMaster1.xml" Id="R2b89a9eabd9741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built the complete agent implementation for the Atira RFQ challenge. Competing as musedots, our team finished sixth in the private final evaluation with 100 out of 100 quality points. Our team was also selected among the top seven teams for the finale pitch meeting. The task was to investigate an industrial tender across four websites and submit a correctly priced, signed bid. This presentation describes the submitted agent, rather than a proposed frontend or a production product.</a:t>
            </a:r>
          </a:p>
          <a:p xmlns:a="http://schemas.openxmlformats.org/drawingml/2006/main">
            <a:r>
              <a:t/>
            </a:r>
          </a:p>
          <a:p xmlns:a="http://schemas.openxmlformats.org/drawingml/2006/main">
            <a:r>
              <a:t>Sources and context:</a:t>
            </a:r>
          </a:p>
          <a:p xmlns:a="http://schemas.openxmlformats.org/drawingml/2006/main">
            <a:r>
              <a:t>https://ehl-challenge.atira.ai/challenges/rfq#leaderboard</a:t>
            </a:r>
          </a:p>
          <a:p xmlns:a="http://schemas.openxmlformats.org/drawingml/2006/main">
            <a:r>
              <a:t>Implementation: original submitted agent.py, browser.py, core.py.</a:t>
            </a:r>
          </a:p>
          <a:p xmlns:a="http://schemas.openxmlformats.org/drawingml/2006/main">
            <a:r>
              <a:t>Personal ownership and top-seven finale pitch meeting selection: confirmed by Bilal Amin.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information needed for a bid is fragmented. The tender portal provides requested positions and changing quantities. The supplier portal provides the governing technical specification. ERP records provide material availability and price conditions, and webmail supplies commercial approvals and the signing TAN. The agent has to distinguish relevant current records from outdated or similar ones, while navigating real browser interactions. A saved draft is not enough: it must complete the signing workflow.</a:t>
            </a:r>
          </a:p>
          <a:p xmlns:a="http://schemas.openxmlformats.org/drawingml/2006/main">
            <a:r>
              <a:t/>
            </a:r>
          </a:p>
          <a:p xmlns:a="http://schemas.openxmlformats.org/drawingml/2006/main">
            <a:r>
              <a:t>Sources and context:</a:t>
            </a:r>
          </a:p>
          <a:p xmlns:a="http://schemas.openxmlformats.org/drawingml/2006/main">
            <a:r>
              <a:t>https://ehl-challenge.atira.ai/challenges/rfq#the-websites</a:t>
            </a:r>
          </a:p>
          <a:p xmlns:a="http://schemas.openxmlformats.org/drawingml/2006/main">
            <a:r>
              <a:t>https://ehl-challenge.atira.ai/challenges/rfq#the-rules</a:t>
            </a:r>
          </a:p>
          <a:p xmlns:a="http://schemas.openxmlformats.org/drawingml/2006/main">
            <a:r>
              <a:t>Source mapping: agent.py SYSTEM prompt and browser.py 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 starts from the runtime brief, answer schema, and supplied site access. It investigates current requirements and final quantities, then selects materials and commercial evidence. Calculation helpers produce prices and delivery results. Before saving a candidate, the controller checks the schema, evidence, formulas, and calculation references. It fills the bid form, compares the displayed review against that validated candidate, and retrieves a TAN from webmail. Completion is based on checking an accepted receipt, not merely the model saying it is done.</a:t>
            </a:r>
          </a:p>
          <a:p xmlns:a="http://schemas.openxmlformats.org/drawingml/2006/main">
            <a:r>
              <a:t/>
            </a:r>
          </a:p>
          <a:p xmlns:a="http://schemas.openxmlformats.org/drawingml/2006/main">
            <a:r>
              <a:t>Sources and context:</a:t>
            </a:r>
          </a:p>
          <a:p xmlns:a="http://schemas.openxmlformats.org/drawingml/2006/main">
            <a:r>
              <a:t>agent.py: load_runtime, Controller.dispatch, candidate, review_bid, act sign, finish.</a:t>
            </a:r>
          </a:p>
          <a:p xmlns:a="http://schemas.openxmlformats.org/drawingml/2006/main">
            <a:r>
              <a:t>core.py: normalize_condition, resolve_quantity, resolve_delivery, price_item, validate_answer, compare_bid.</a:t>
            </a:r>
          </a:p>
          <a:p xmlns:a="http://schemas.openxmlformats.org/drawingml/2006/main">
            <a:r>
              <a:t>https://ehl-challenge.atira.ai/challenges/rfq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controller with a repeated Qwen tool-calling loop, not four independent agents. The model chooses the next action using the runtime brief, notebook, candidate, and available evidence. Playwright tools execute explicit browser actions and extract selected documents. Sources receive stable IDs, and the notebook retains facts across shortened dialogue history. Decimal helpers calculate and validate model-selected inputs. The submitted configuration requests four sandbox browsers. Tool results feed back to the controlling model, which continues until the receipt is confirmed or time expires.</a:t>
            </a:r>
          </a:p>
          <a:p xmlns:a="http://schemas.openxmlformats.org/drawingml/2006/main">
            <a:r>
              <a:t/>
            </a:r>
          </a:p>
          <a:p xmlns:a="http://schemas.openxmlformats.org/drawingml/2006/main">
            <a:r>
              <a:t>Sources and context:</a:t>
            </a:r>
          </a:p>
          <a:p xmlns:a="http://schemas.openxmlformats.org/drawingml/2006/main">
            <a:r>
              <a:t>agent.py: Controller.messages, dispatch, run, main.</a:t>
            </a:r>
          </a:p>
          <a:p xmlns:a="http://schemas.openxmlformats.org/drawingml/2006/main">
            <a:r>
              <a:t>agent.json: browsers=4, models=[qwen], run with --thinking.</a:t>
            </a:r>
          </a:p>
          <a:p xmlns:a="http://schemas.openxmlformats.org/drawingml/2006/main">
            <a:r>
              <a:t>browser.py and core.py in the unchanged submitted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combines model-directed decisions with explicit safeguards. Candidate fields need evidence and verified formulas. Decimal arithmetic supports pricing and checks totals. A rejected candidate update does not replace the previous validated candidate. The controller compares the portal review against the candidate and prevents a final signing click from bypassing that review. Bounded retries support recovery, while the local nineteen-minute deadline reserves seven minutes for submission. These safeguards reduce specific failure modes; they do not guarantee that every model decision or evidence interpretation is correct.</a:t>
            </a:r>
          </a:p>
          <a:p xmlns:a="http://schemas.openxmlformats.org/drawingml/2006/main">
            <a:r>
              <a:t/>
            </a:r>
          </a:p>
          <a:p xmlns:a="http://schemas.openxmlformats.org/drawingml/2006/main">
            <a:r>
              <a:t>Sources and context:</a:t>
            </a:r>
          </a:p>
          <a:p xmlns:a="http://schemas.openxmlformats.org/drawingml/2006/main">
            <a:r>
              <a:t>agent.py: candidate validation, review_verified signing guards, receipt_check, run and timeout budgets.</a:t>
            </a:r>
          </a:p>
          <a:p xmlns:a="http://schemas.openxmlformats.org/drawingml/2006/main">
            <a:r>
              <a:t>core.py: Decimal/HALF_UP calculations, validate_answer, validate_evidence, compare_bid, retry, Clock.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official private final leaderboard lists musedots in sixth place with 100 out of 100 quality, a four-minute twenty-five-second runtime, and 0.2483 dollars of platform-reported model cost. Bilal Amin confirmed selection among the top seven teams for the finale pitch meeting. The authenticated team dashboard separately shows eighteenth place on the public dataset. Bilal Amin implemented the complete submitted agent, including the controller, browser tools, calculations, evidence handling, and submission safeguards. These results describe the hackathon benchmark; they are not a general production accuracy claim or an estimate of business savings. As of 13 October 2026, the platform displays that submissions and new runs are closed.</a:t>
            </a:r>
          </a:p>
          <a:p xmlns:a="http://schemas.openxmlformats.org/drawingml/2006/main">
            <a:r>
              <a:t/>
            </a:r>
          </a:p>
          <a:p xmlns:a="http://schemas.openxmlformats.org/drawingml/2006/main">
            <a:r>
              <a:t>Sources and context:</a:t>
            </a:r>
          </a:p>
          <a:p xmlns:a="http://schemas.openxmlformats.org/drawingml/2006/main">
            <a:r>
              <a:t>https://ehl-challenge.atira.ai/challenges/rfq#leaderboard</a:t>
            </a:r>
          </a:p>
          <a:p xmlns:a="http://schemas.openxmlformats.org/drawingml/2006/main">
            <a:r>
              <a:t>https://ehl-challenge.atira.ai/team (authenticated team dashboard, inspected 13 October 2026).</a:t>
            </a:r>
          </a:p>
          <a:p xmlns:a="http://schemas.openxmlformats.org/drawingml/2006/main">
            <a:r>
              <a:t>Implementation ownership and finale pitch selection confirmed by Bilal Amin.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be2c9782304d7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47a7a1efda04c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28ae750a3614e1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7ba283f6b6446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dc5995fecf84d7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4ba07c73ce54e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CAF0CC-0B42-40F3-8A3B-D233F3B6120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B122657-E1BA-457A-AAEA-13FCB27DE2A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22A4903-BE6F-4D2B-A5E6-0AEE736661F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AD4237-2510-45EA-86BE-6D2DAB17B3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B5D5354-EA6B-4FD9-B0CD-99CCAE9D614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2DF33F1-2593-4E6E-A528-33E647F9B3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2F04AB1-31E1-487F-BE91-EBC4A0809AF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6803396-9945-41F9-8110-A101B230131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C6E701-A898-46DB-95D1-0164FB6425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0F958C-48EA-4867-A076-79B199BFB7B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badc9649e34a33" /><Relationship Type="http://schemas.openxmlformats.org/officeDocument/2006/relationships/slideLayout" Target="/ppt/slideLayouts/slideLayout1.xml" Id="R36a75d56845c4d0a" /><Relationship Type="http://schemas.openxmlformats.org/officeDocument/2006/relationships/slideLayout" Target="/ppt/slideLayouts/slideLayout2.xml" Id="Ra1dc105b7cb14808" /><Relationship Type="http://schemas.openxmlformats.org/officeDocument/2006/relationships/slideLayout" Target="/ppt/slideLayouts/slideLayout3.xml" Id="R7a98c531cb134f25" /><Relationship Type="http://schemas.openxmlformats.org/officeDocument/2006/relationships/slideLayout" Target="/ppt/slideLayouts/slideLayout4.xml" Id="R91d45e9c1ed4460b" /><Relationship Type="http://schemas.openxmlformats.org/officeDocument/2006/relationships/slideLayout" Target="/ppt/slideLayouts/slideLayout5.xml" Id="R30f759b46ac04f27" /><Relationship Type="http://schemas.openxmlformats.org/officeDocument/2006/relationships/slideLayout" Target="/ppt/slideLayouts/slideLayout6.xml" Id="Rec6121c4e26448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a75d56845c4d0a"/>
    <p:sldLayoutId xmlns:r="http://schemas.openxmlformats.org/officeDocument/2006/relationships" id="2147483650" r:id="Ra1dc105b7cb14808"/>
    <p:sldLayoutId xmlns:r="http://schemas.openxmlformats.org/officeDocument/2006/relationships" id="2147483651" r:id="R7a98c531cb134f25"/>
    <p:sldLayoutId xmlns:r="http://schemas.openxmlformats.org/officeDocument/2006/relationships" id="2147483652" r:id="R91d45e9c1ed4460b"/>
    <p:sldLayoutId xmlns:r="http://schemas.openxmlformats.org/officeDocument/2006/relationships" id="2147483653" r:id="R30f759b46ac04f27"/>
    <p:sldLayoutId xmlns:r="http://schemas.openxmlformats.org/officeDocument/2006/relationships" id="2147483654" r:id="Rec6121c4e26448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0d2c61e9ffb4647" /><Relationship Type="http://schemas.openxmlformats.org/officeDocument/2006/relationships/notesSlide" Target="/ppt/notesSlides/notesSlide1.xml" Id="R928d2a547c164a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5e846f0b23f4e19" /><Relationship Type="http://schemas.openxmlformats.org/officeDocument/2006/relationships/notesSlide" Target="/ppt/notesSlides/notesSlide2.xml" Id="R7adb3280c51f4e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7a43cb704f447d7" /><Relationship Type="http://schemas.openxmlformats.org/officeDocument/2006/relationships/notesSlide" Target="/ppt/notesSlides/notesSlide3.xml" Id="R63ef850d3d914c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8c9b282ad1948ad" /><Relationship Type="http://schemas.openxmlformats.org/officeDocument/2006/relationships/notesSlide" Target="/ppt/notesSlides/notesSlide4.xml" Id="R4745d3b307744b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32bf5fd89a848ff" /><Relationship Type="http://schemas.openxmlformats.org/officeDocument/2006/relationships/notesSlide" Target="/ppt/notesSlides/notesSlide5.xml" Id="Re7e26f9fff3e47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fc42d836fbe4e1a" /><Relationship Type="http://schemas.openxmlformats.org/officeDocument/2006/relationships/notesSlide" Target="/ppt/notesSlides/notesSlide6.xml" Id="R77cd8d616bb44d17" /></Relationships>
</file>

<file path=ppt/slides/slide1.xml><?xml version="1.0" encoding="utf-8"?>
<p:sld xmlns:p="http://schemas.openxmlformats.org/presentationml/2006/main">
  <p:cSld>
    <p:bg>
      <p:bgPr>
        <a:solidFill xmlns:a="http://schemas.openxmlformats.org/drawingml/2006/main">
          <a:srgbClr val="14283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3C455F8-C99C-4221-B06A-C01C8F2544E7}"/>
              </a:ext>
            </a:extLst>
          </p:cNvPr>
          <p:cNvSpPr>
            <a:spLocks xmlns:a="http://schemas.openxmlformats.org/drawingml/2006/main" noGrp="1"/>
          </p:cNvSpPr>
          <p:nvPr/>
        </p:nvSpPr>
        <p:spPr>
          <a:xfrm xmlns:a="http://schemas.openxmlformats.org/drawingml/2006/main">
            <a:off x="10572750" y="6324600"/>
            <a:ext cx="93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ABC1D2"/>
                </a:solidFill>
                <a:latin typeface="Arial"/>
                <a:ea typeface="Arial"/>
                <a:cs typeface="Arial"/>
              </a:defRPr>
            </a:defPPr>
          </a:lstStyle>
          <a:p xmlns:a="http://schemas.openxmlformats.org/drawingml/2006/main">
            <a:pPr algn="r">
              <a:defRPr sz="1350" b="0">
                <a:solidFill>
                  <a:srgbClr val="ABC1D2"/>
                </a:solidFill>
                <a:latin typeface="Arial"/>
                <a:ea typeface="Arial"/>
                <a:cs typeface="Arial"/>
              </a:defRPr>
            </a:pPr>
            <a:r>
              <a:rPr sz="1350" b="0">
                <a:solidFill>
                  <a:srgbClr val="ABC1D2"/>
                </a:solidFill>
                <a:latin typeface="Arial"/>
                <a:ea typeface="Arial"/>
                <a:cs typeface="Arial"/>
              </a:rPr>
              <a:t>01 / 06</a:t>
            </a:r>
          </a:p>
        </p:txBody>
      </p:sp>
      <p:sp>
        <p:nvSpPr>
          <p:cNvPr id="2" name="">
            <a:extLst xmlns:a="http://schemas.openxmlformats.org/drawingml/2006/main">
              <a:ext uri="{FF2B5EF4-FFF2-40B4-BE49-F238E27FC236}">
                <a16:creationId xmlns:a16="http://schemas.microsoft.com/office/drawing/2014/main" id="{BDF6519F-6C0F-446B-B727-F99ECFF710C4}"/>
              </a:ext>
            </a:extLst>
          </p:cNvPr>
          <p:cNvSpPr>
            <a:spLocks xmlns:a="http://schemas.openxmlformats.org/drawingml/2006/main" noGrp="1"/>
          </p:cNvSpPr>
          <p:nvPr/>
        </p:nvSpPr>
        <p:spPr>
          <a:xfrm xmlns:a="http://schemas.openxmlformats.org/drawingml/2006/main">
            <a:off x="685800" y="666750"/>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8ADFD0"/>
                </a:solidFill>
                <a:latin typeface="Arial"/>
                <a:ea typeface="Arial"/>
                <a:cs typeface="Arial"/>
              </a:defRPr>
            </a:defPPr>
          </a:lstStyle>
          <a:p xmlns:a="http://schemas.openxmlformats.org/drawingml/2006/main">
            <a:pPr algn="l">
              <a:defRPr sz="1950" b="1">
                <a:solidFill>
                  <a:srgbClr val="8ADFD0"/>
                </a:solidFill>
                <a:latin typeface="Arial"/>
                <a:ea typeface="Arial"/>
                <a:cs typeface="Arial"/>
              </a:defRPr>
            </a:pPr>
            <a:r>
              <a:rPr sz="1950" b="1">
                <a:solidFill>
                  <a:srgbClr val="8ADFD0"/>
                </a:solidFill>
                <a:latin typeface="Arial"/>
                <a:ea typeface="Arial"/>
                <a:cs typeface="Arial"/>
              </a:rPr>
              <a:t>MUSEDOTS RFQ AGENT</a:t>
            </a:r>
          </a:p>
        </p:txBody>
      </p:sp>
      <p:sp>
        <p:nvSpPr>
          <p:cNvPr id="3" name="">
            <a:extLst xmlns:a="http://schemas.openxmlformats.org/drawingml/2006/main">
              <a:ext uri="{FF2B5EF4-FFF2-40B4-BE49-F238E27FC236}">
                <a16:creationId xmlns:a16="http://schemas.microsoft.com/office/drawing/2014/main" id="{F0ECC4D1-F0CC-4043-8E04-6B40959E3E05}"/>
              </a:ext>
            </a:extLst>
          </p:cNvPr>
          <p:cNvSpPr>
            <a:spLocks xmlns:a="http://schemas.openxmlformats.org/drawingml/2006/main" noGrp="1"/>
          </p:cNvSpPr>
          <p:nvPr/>
        </p:nvSpPr>
        <p:spPr>
          <a:xfrm xmlns:a="http://schemas.openxmlformats.org/drawingml/2006/main">
            <a:off x="685800" y="1504950"/>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5850" b="1">
                <a:solidFill>
                  <a:srgbClr val="FFFFFF"/>
                </a:solidFill>
                <a:latin typeface="Arial"/>
                <a:ea typeface="Arial"/>
                <a:cs typeface="Arial"/>
              </a:defRPr>
            </a:defPPr>
          </a:lstStyle>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Autonomous</a:t>
            </a:r>
          </a:p>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industrial bidding</a:t>
            </a:r>
          </a:p>
        </p:txBody>
      </p:sp>
      <p:sp>
        <p:nvSpPr>
          <p:cNvPr id="4" name="">
            <a:extLst xmlns:a="http://schemas.openxmlformats.org/drawingml/2006/main">
              <a:ext uri="{FF2B5EF4-FFF2-40B4-BE49-F238E27FC236}">
                <a16:creationId xmlns:a16="http://schemas.microsoft.com/office/drawing/2014/main" id="{3F6A9186-4E1F-42FE-927C-721E0D4D71F7}"/>
              </a:ext>
            </a:extLst>
          </p:cNvPr>
          <p:cNvSpPr>
            <a:spLocks xmlns:a="http://schemas.openxmlformats.org/drawingml/2006/main" noGrp="1"/>
          </p:cNvSpPr>
          <p:nvPr/>
        </p:nvSpPr>
        <p:spPr>
          <a:xfrm xmlns:a="http://schemas.openxmlformats.org/drawingml/2006/main">
            <a:off x="723900" y="373380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D1DEEA"/>
                </a:solidFill>
                <a:latin typeface="Arial"/>
                <a:ea typeface="Arial"/>
                <a:cs typeface="Arial"/>
              </a:defRPr>
            </a:defPPr>
          </a:lstStyle>
          <a:p xmlns:a="http://schemas.openxmlformats.org/drawingml/2006/main">
            <a:pPr algn="l">
              <a:defRPr sz="2250" b="0">
                <a:solidFill>
                  <a:srgbClr val="D1DEEA"/>
                </a:solidFill>
                <a:latin typeface="Arial"/>
                <a:ea typeface="Arial"/>
                <a:cs typeface="Arial"/>
              </a:defRPr>
            </a:pPr>
            <a:r>
              <a:rPr sz="2250" b="0">
                <a:solidFill>
                  <a:srgbClr val="D1DEEA"/>
                </a:solidFill>
                <a:latin typeface="Arial"/>
                <a:ea typeface="Arial"/>
                <a:cs typeface="Arial"/>
              </a:rPr>
              <a:t>An AI agent that investigates four business websites</a:t>
            </a:r>
          </a:p>
          <a:p xmlns:a="http://schemas.openxmlformats.org/drawingml/2006/main">
            <a:pPr algn="l">
              <a:defRPr sz="2250" b="0">
                <a:solidFill>
                  <a:srgbClr val="D1DEEA"/>
                </a:solidFill>
                <a:latin typeface="Arial"/>
                <a:ea typeface="Arial"/>
                <a:cs typeface="Arial"/>
              </a:defRPr>
            </a:pPr>
            <a:r>
              <a:rPr sz="2250" b="0">
                <a:solidFill>
                  <a:srgbClr val="D1DEEA"/>
                </a:solidFill>
                <a:latin typeface="Arial"/>
                <a:ea typeface="Arial"/>
                <a:cs typeface="Arial"/>
              </a:rPr>
              <a:t>and submits a reviewed, TAN-signed bid.</a:t>
            </a:r>
          </a:p>
        </p:txBody>
      </p:sp>
      <p:sp>
        <p:nvSpPr>
          <p:cNvPr id="5" name="">
            <a:extLst xmlns:a="http://schemas.openxmlformats.org/drawingml/2006/main">
              <a:ext uri="{FF2B5EF4-FFF2-40B4-BE49-F238E27FC236}">
                <a16:creationId xmlns:a16="http://schemas.microsoft.com/office/drawing/2014/main" id="{CE73D8F1-9C7F-40D2-8C5A-0D4D984931C4}"/>
              </a:ext>
            </a:extLst>
          </p:cNvPr>
          <p:cNvSpPr>
            <a:spLocks xmlns:a="http://schemas.openxmlformats.org/drawingml/2006/main" noGrp="1"/>
          </p:cNvSpPr>
          <p:nvPr/>
        </p:nvSpPr>
        <p:spPr>
          <a:xfrm xmlns:a="http://schemas.openxmlformats.org/drawingml/2006/main">
            <a:off x="723900" y="5067300"/>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225" b="1">
                <a:solidFill>
                  <a:srgbClr val="8ADFD0"/>
                </a:solidFill>
                <a:latin typeface="Arial"/>
                <a:ea typeface="Arial"/>
                <a:cs typeface="Arial"/>
              </a:defRPr>
            </a:defPPr>
          </a:lstStyle>
          <a:p xmlns:a="http://schemas.openxmlformats.org/drawingml/2006/main">
            <a:pPr algn="l">
              <a:defRPr sz="3225" b="1">
                <a:solidFill>
                  <a:srgbClr val="8ADFD0"/>
                </a:solidFill>
                <a:latin typeface="Arial"/>
                <a:ea typeface="Arial"/>
                <a:cs typeface="Arial"/>
              </a:defRPr>
            </a:pPr>
            <a:r>
              <a:rPr sz="3225" b="1">
                <a:solidFill>
                  <a:srgbClr val="8ADFD0"/>
                </a:solidFill>
                <a:latin typeface="Arial"/>
                <a:ea typeface="Arial"/>
                <a:cs typeface="Arial"/>
              </a:rPr>
              <a:t>6th place · 100/100 quality</a:t>
            </a:r>
          </a:p>
        </p:txBody>
      </p:sp>
      <p:sp>
        <p:nvSpPr>
          <p:cNvPr id="6" name="">
            <a:extLst xmlns:a="http://schemas.openxmlformats.org/drawingml/2006/main">
              <a:ext uri="{FF2B5EF4-FFF2-40B4-BE49-F238E27FC236}">
                <a16:creationId xmlns:a16="http://schemas.microsoft.com/office/drawing/2014/main" id="{06FBA6CC-C816-449C-80EC-EEBE1F73B929}"/>
              </a:ext>
            </a:extLst>
          </p:cNvPr>
          <p:cNvSpPr>
            <a:spLocks xmlns:a="http://schemas.openxmlformats.org/drawingml/2006/main" noGrp="1"/>
          </p:cNvSpPr>
          <p:nvPr/>
        </p:nvSpPr>
        <p:spPr>
          <a:xfrm xmlns:a="http://schemas.openxmlformats.org/drawingml/2006/main">
            <a:off x="723900" y="5753100"/>
            <a:ext cx="942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D1DEEA"/>
                </a:solidFill>
                <a:latin typeface="Arial"/>
                <a:ea typeface="Arial"/>
                <a:cs typeface="Arial"/>
              </a:defRPr>
            </a:defPPr>
          </a:lstStyle>
          <a:p xmlns:a="http://schemas.openxmlformats.org/drawingml/2006/main">
            <a:pPr algn="l">
              <a:defRPr sz="1650" b="0">
                <a:solidFill>
                  <a:srgbClr val="D1DEEA"/>
                </a:solidFill>
                <a:latin typeface="Arial"/>
                <a:ea typeface="Arial"/>
                <a:cs typeface="Arial"/>
              </a:defRPr>
            </a:pPr>
            <a:r>
              <a:rPr sz="1650" b="0">
                <a:solidFill>
                  <a:srgbClr val="D1DEEA"/>
                </a:solidFill>
                <a:latin typeface="Arial"/>
                <a:ea typeface="Arial"/>
                <a:cs typeface="Arial"/>
              </a:rPr>
              <a:t>Top-seven selection for the finale pitch meeting</a:t>
            </a:r>
          </a:p>
          <a:p xmlns:a="http://schemas.openxmlformats.org/drawingml/2006/main">
            <a:pPr algn="l">
              <a:defRPr sz="1650" b="0">
                <a:solidFill>
                  <a:srgbClr val="D1DEEA"/>
                </a:solidFill>
                <a:latin typeface="Arial"/>
                <a:ea typeface="Arial"/>
                <a:cs typeface="Arial"/>
              </a:defRPr>
            </a:pPr>
            <a:r>
              <a:rPr sz="1650" b="0">
                <a:solidFill>
                  <a:srgbClr val="D1DEEA"/>
                </a:solidFill>
                <a:latin typeface="Arial"/>
                <a:ea typeface="Arial"/>
                <a:cs typeface="Arial"/>
              </a:rPr>
              <a:t>Complete agent implementation by Bilal Amin · Team musedots</a:t>
            </a:r>
          </a:p>
        </p:txBody>
      </p:sp>
    </p:spTree>
    <p:extLst>
      <p:ext uri="{BB962C8B-B14F-4D97-AF65-F5344CB8AC3E}">
        <p14:creationId xmlns:p14="http://schemas.microsoft.com/office/powerpoint/2010/main" val="16334777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2E97059-481C-4C7F-B439-8516F71E2A82}"/>
              </a:ext>
            </a:extLst>
          </p:cNvPr>
          <p:cNvSpPr>
            <a:spLocks xmlns:a="http://schemas.openxmlformats.org/drawingml/2006/main" noGrp="1"/>
          </p:cNvSpPr>
          <p:nvPr/>
        </p:nvSpPr>
        <p:spPr>
          <a:xfrm xmlns:a="http://schemas.openxmlformats.org/drawingml/2006/main">
            <a:off x="685800" y="5905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600" b="1">
                <a:solidFill>
                  <a:srgbClr val="14283E"/>
                </a:solidFill>
                <a:latin typeface="Arial"/>
                <a:ea typeface="Arial"/>
                <a:cs typeface="Arial"/>
              </a:defRPr>
            </a:defPPr>
          </a:lstStyle>
          <a:p xmlns:a="http://schemas.openxmlformats.org/drawingml/2006/main">
            <a:pPr algn="l">
              <a:defRPr sz="3600" b="1">
                <a:solidFill>
                  <a:srgbClr val="14283E"/>
                </a:solidFill>
                <a:latin typeface="Arial"/>
                <a:ea typeface="Arial"/>
                <a:cs typeface="Arial"/>
              </a:defRPr>
            </a:pPr>
            <a:r>
              <a:rPr sz="3600" b="1">
                <a:solidFill>
                  <a:srgbClr val="14283E"/>
                </a:solidFill>
                <a:latin typeface="Arial"/>
                <a:ea typeface="Arial"/>
                <a:cs typeface="Arial"/>
              </a:rPr>
              <a:t>One bid, four sources of truth</a:t>
            </a:r>
          </a:p>
        </p:txBody>
      </p:sp>
      <p:sp>
        <p:nvSpPr>
          <p:cNvPr id="2" name="">
            <a:extLst xmlns:a="http://schemas.openxmlformats.org/drawingml/2006/main">
              <a:ext uri="{FF2B5EF4-FFF2-40B4-BE49-F238E27FC236}">
                <a16:creationId xmlns:a16="http://schemas.microsoft.com/office/drawing/2014/main" id="{091946DA-B833-40C8-A8AB-2B8C405150B0}"/>
              </a:ext>
            </a:extLst>
          </p:cNvPr>
          <p:cNvSpPr>
            <a:spLocks xmlns:a="http://schemas.openxmlformats.org/drawingml/2006/main" noGrp="1"/>
          </p:cNvSpPr>
          <p:nvPr/>
        </p:nvSpPr>
        <p:spPr>
          <a:xfrm xmlns:a="http://schemas.openxmlformats.org/drawingml/2006/main">
            <a:off x="10572750" y="6324600"/>
            <a:ext cx="93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26579"/>
                </a:solidFill>
                <a:latin typeface="Arial"/>
                <a:ea typeface="Arial"/>
                <a:cs typeface="Arial"/>
              </a:defRPr>
            </a:defPPr>
          </a:lstStyle>
          <a:p xmlns:a="http://schemas.openxmlformats.org/drawingml/2006/main">
            <a:pPr algn="r">
              <a:defRPr sz="1350" b="0">
                <a:solidFill>
                  <a:srgbClr val="526579"/>
                </a:solidFill>
                <a:latin typeface="Arial"/>
                <a:ea typeface="Arial"/>
                <a:cs typeface="Arial"/>
              </a:defRPr>
            </a:pPr>
            <a:r>
              <a:rPr sz="1350" b="0">
                <a:solidFill>
                  <a:srgbClr val="526579"/>
                </a:solidFill>
                <a:latin typeface="Arial"/>
                <a:ea typeface="Arial"/>
                <a:cs typeface="Arial"/>
              </a:rPr>
              <a:t>02 / 06</a:t>
            </a:r>
          </a:p>
        </p:txBody>
      </p:sp>
      <p:sp>
        <p:nvSpPr>
          <p:cNvPr id="3" name="">
            <a:extLst xmlns:a="http://schemas.openxmlformats.org/drawingml/2006/main">
              <a:ext uri="{FF2B5EF4-FFF2-40B4-BE49-F238E27FC236}">
                <a16:creationId xmlns:a16="http://schemas.microsoft.com/office/drawing/2014/main" id="{F69CD7B9-AFCC-454D-A2A2-7E6BAE069407}"/>
              </a:ext>
            </a:extLst>
          </p:cNvPr>
          <p:cNvSpPr>
            <a:spLocks xmlns:a="http://schemas.openxmlformats.org/drawingml/2006/main" noGrp="1"/>
          </p:cNvSpPr>
          <p:nvPr/>
        </p:nvSpPr>
        <p:spPr>
          <a:xfrm xmlns:a="http://schemas.openxmlformats.org/drawingml/2006/main">
            <a:off x="685800" y="14478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526579"/>
                </a:solidFill>
                <a:latin typeface="Arial"/>
                <a:ea typeface="Arial"/>
                <a:cs typeface="Arial"/>
              </a:defRPr>
            </a:defPPr>
          </a:lstStyle>
          <a:p xmlns:a="http://schemas.openxmlformats.org/drawingml/2006/main">
            <a:pPr algn="l">
              <a:defRPr sz="2250" b="0">
                <a:solidFill>
                  <a:srgbClr val="526579"/>
                </a:solidFill>
                <a:latin typeface="Arial"/>
                <a:ea typeface="Arial"/>
                <a:cs typeface="Arial"/>
              </a:defRPr>
            </a:pPr>
            <a:r>
              <a:rPr sz="2250" b="0">
                <a:solidFill>
                  <a:srgbClr val="526579"/>
                </a:solidFill>
                <a:latin typeface="Arial"/>
                <a:ea typeface="Arial"/>
                <a:cs typeface="Arial"/>
              </a:rPr>
              <a:t>Each website holds a different part of the decision.</a:t>
            </a:r>
          </a:p>
        </p:txBody>
      </p:sp>
      <p:sp>
        <p:nvSpPr>
          <p:cNvPr id="4" name="">
            <a:extLst xmlns:a="http://schemas.openxmlformats.org/drawingml/2006/main">
              <a:ext uri="{FF2B5EF4-FFF2-40B4-BE49-F238E27FC236}">
                <a16:creationId xmlns:a16="http://schemas.microsoft.com/office/drawing/2014/main" id="{5A25E62B-8339-4A8E-B2C4-19E4096C824C}"/>
              </a:ext>
            </a:extLst>
          </p:cNvPr>
          <p:cNvSpPr>
            <a:spLocks xmlns:a="http://schemas.openxmlformats.org/drawingml/2006/main" noGrp="1"/>
          </p:cNvSpPr>
          <p:nvPr/>
        </p:nvSpPr>
        <p:spPr>
          <a:xfrm xmlns:a="http://schemas.openxmlformats.org/drawingml/2006/main">
            <a:off x="685800" y="2238375"/>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147D79"/>
                </a:solidFill>
                <a:latin typeface="Arial"/>
                <a:ea typeface="Arial"/>
                <a:cs typeface="Arial"/>
              </a:defRPr>
            </a:defPPr>
          </a:lstStyle>
          <a:p xmlns:a="http://schemas.openxmlformats.org/drawingml/2006/main">
            <a:pPr algn="l">
              <a:defRPr sz="2325" b="1">
                <a:solidFill>
                  <a:srgbClr val="147D79"/>
                </a:solidFill>
                <a:latin typeface="Arial"/>
                <a:ea typeface="Arial"/>
                <a:cs typeface="Arial"/>
              </a:defRPr>
            </a:pPr>
            <a:r>
              <a:rPr sz="2325" b="1">
                <a:solidFill>
                  <a:srgbClr val="147D79"/>
                </a:solidFill>
                <a:latin typeface="Arial"/>
                <a:ea typeface="Arial"/>
                <a:cs typeface="Arial"/>
              </a:rPr>
              <a:t>Tender portal</a:t>
            </a:r>
          </a:p>
        </p:txBody>
      </p:sp>
      <p:sp>
        <p:nvSpPr>
          <p:cNvPr id="5" name="">
            <a:extLst xmlns:a="http://schemas.openxmlformats.org/drawingml/2006/main">
              <a:ext uri="{FF2B5EF4-FFF2-40B4-BE49-F238E27FC236}">
                <a16:creationId xmlns:a16="http://schemas.microsoft.com/office/drawing/2014/main" id="{8DF44EC9-59EA-41A4-A6FC-5A2DE75D10D7}"/>
              </a:ext>
            </a:extLst>
          </p:cNvPr>
          <p:cNvSpPr>
            <a:spLocks xmlns:a="http://schemas.openxmlformats.org/drawingml/2006/main" noGrp="1"/>
          </p:cNvSpPr>
          <p:nvPr/>
        </p:nvSpPr>
        <p:spPr>
          <a:xfrm xmlns:a="http://schemas.openxmlformats.org/drawingml/2006/main">
            <a:off x="4000500" y="2257425"/>
            <a:ext cx="723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4283E"/>
                </a:solidFill>
                <a:latin typeface="Arial"/>
                <a:ea typeface="Arial"/>
                <a:cs typeface="Arial"/>
              </a:defRPr>
            </a:defPPr>
          </a:lstStyle>
          <a:p xmlns:a="http://schemas.openxmlformats.org/drawingml/2006/main">
            <a:pPr algn="l">
              <a:defRPr sz="2175" b="0">
                <a:solidFill>
                  <a:srgbClr val="14283E"/>
                </a:solidFill>
                <a:latin typeface="Arial"/>
                <a:ea typeface="Arial"/>
                <a:cs typeface="Arial"/>
              </a:defRPr>
            </a:pPr>
            <a:r>
              <a:rPr sz="2175" b="0">
                <a:solidFill>
                  <a:srgbClr val="14283E"/>
                </a:solidFill>
                <a:latin typeface="Arial"/>
                <a:ea typeface="Arial"/>
                <a:cs typeface="Arial"/>
              </a:rPr>
              <a:t>Positions, quantities, clarifications, bid form</a:t>
            </a:r>
          </a:p>
        </p:txBody>
      </p:sp>
      <p:sp>
        <p:nvSpPr>
          <p:cNvPr id="6" name="">
            <a:extLst xmlns:a="http://schemas.openxmlformats.org/drawingml/2006/main">
              <a:ext uri="{FF2B5EF4-FFF2-40B4-BE49-F238E27FC236}">
                <a16:creationId xmlns:a16="http://schemas.microsoft.com/office/drawing/2014/main" id="{65A5A068-F0F9-4EC6-9DAE-7F499C9ADE1A}"/>
              </a:ext>
            </a:extLst>
          </p:cNvPr>
          <p:cNvSpPr>
            <a:spLocks xmlns:a="http://schemas.openxmlformats.org/drawingml/2006/main" noGrp="1"/>
          </p:cNvSpPr>
          <p:nvPr/>
        </p:nvSpPr>
        <p:spPr>
          <a:xfrm xmlns:a="http://schemas.openxmlformats.org/drawingml/2006/main">
            <a:off x="685800" y="304800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147D79"/>
                </a:solidFill>
                <a:latin typeface="Arial"/>
                <a:ea typeface="Arial"/>
                <a:cs typeface="Arial"/>
              </a:defRPr>
            </a:defPPr>
          </a:lstStyle>
          <a:p xmlns:a="http://schemas.openxmlformats.org/drawingml/2006/main">
            <a:pPr algn="l">
              <a:defRPr sz="2325" b="1">
                <a:solidFill>
                  <a:srgbClr val="147D79"/>
                </a:solidFill>
                <a:latin typeface="Arial"/>
                <a:ea typeface="Arial"/>
                <a:cs typeface="Arial"/>
              </a:defRPr>
            </a:pPr>
            <a:r>
              <a:rPr sz="2325" b="1">
                <a:solidFill>
                  <a:srgbClr val="147D79"/>
                </a:solidFill>
                <a:latin typeface="Arial"/>
                <a:ea typeface="Arial"/>
                <a:cs typeface="Arial"/>
              </a:rPr>
              <a:t>Supplier portal</a:t>
            </a:r>
          </a:p>
        </p:txBody>
      </p:sp>
      <p:sp>
        <p:nvSpPr>
          <p:cNvPr id="7" name="">
            <a:extLst xmlns:a="http://schemas.openxmlformats.org/drawingml/2006/main">
              <a:ext uri="{FF2B5EF4-FFF2-40B4-BE49-F238E27FC236}">
                <a16:creationId xmlns:a16="http://schemas.microsoft.com/office/drawing/2014/main" id="{05987989-6D67-4E61-B557-1C6C4D3E61DB}"/>
              </a:ext>
            </a:extLst>
          </p:cNvPr>
          <p:cNvSpPr>
            <a:spLocks xmlns:a="http://schemas.openxmlformats.org/drawingml/2006/main" noGrp="1"/>
          </p:cNvSpPr>
          <p:nvPr/>
        </p:nvSpPr>
        <p:spPr>
          <a:xfrm xmlns:a="http://schemas.openxmlformats.org/drawingml/2006/main">
            <a:off x="4000500" y="3067050"/>
            <a:ext cx="723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4283E"/>
                </a:solidFill>
                <a:latin typeface="Arial"/>
                <a:ea typeface="Arial"/>
                <a:cs typeface="Arial"/>
              </a:defRPr>
            </a:defPPr>
          </a:lstStyle>
          <a:p xmlns:a="http://schemas.openxmlformats.org/drawingml/2006/main">
            <a:pPr algn="l">
              <a:defRPr sz="2175" b="0">
                <a:solidFill>
                  <a:srgbClr val="14283E"/>
                </a:solidFill>
                <a:latin typeface="Arial"/>
                <a:ea typeface="Arial"/>
                <a:cs typeface="Arial"/>
              </a:defRPr>
            </a:pPr>
            <a:r>
              <a:rPr sz="2175" b="0">
                <a:solidFill>
                  <a:srgbClr val="14283E"/>
                </a:solidFill>
                <a:latin typeface="Arial"/>
                <a:ea typeface="Arial"/>
                <a:cs typeface="Arial"/>
              </a:rPr>
              <a:t>Technical specification and document revisions</a:t>
            </a:r>
          </a:p>
        </p:txBody>
      </p:sp>
      <p:sp>
        <p:nvSpPr>
          <p:cNvPr id="8" name="">
            <a:extLst xmlns:a="http://schemas.openxmlformats.org/drawingml/2006/main">
              <a:ext uri="{FF2B5EF4-FFF2-40B4-BE49-F238E27FC236}">
                <a16:creationId xmlns:a16="http://schemas.microsoft.com/office/drawing/2014/main" id="{27C1398B-1E52-4260-96B7-8B4680754E98}"/>
              </a:ext>
            </a:extLst>
          </p:cNvPr>
          <p:cNvSpPr>
            <a:spLocks xmlns:a="http://schemas.openxmlformats.org/drawingml/2006/main" noGrp="1"/>
          </p:cNvSpPr>
          <p:nvPr/>
        </p:nvSpPr>
        <p:spPr>
          <a:xfrm xmlns:a="http://schemas.openxmlformats.org/drawingml/2006/main">
            <a:off x="685800" y="3857625"/>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147D79"/>
                </a:solidFill>
                <a:latin typeface="Arial"/>
                <a:ea typeface="Arial"/>
                <a:cs typeface="Arial"/>
              </a:defRPr>
            </a:defPPr>
          </a:lstStyle>
          <a:p xmlns:a="http://schemas.openxmlformats.org/drawingml/2006/main">
            <a:pPr algn="l">
              <a:defRPr sz="2325" b="1">
                <a:solidFill>
                  <a:srgbClr val="147D79"/>
                </a:solidFill>
                <a:latin typeface="Arial"/>
                <a:ea typeface="Arial"/>
                <a:cs typeface="Arial"/>
              </a:defRPr>
            </a:pPr>
            <a:r>
              <a:rPr sz="2325" b="1">
                <a:solidFill>
                  <a:srgbClr val="147D79"/>
                </a:solidFill>
                <a:latin typeface="Arial"/>
                <a:ea typeface="Arial"/>
                <a:cs typeface="Arial"/>
              </a:rPr>
              <a:t>Company ERP</a:t>
            </a:r>
          </a:p>
        </p:txBody>
      </p:sp>
      <p:sp>
        <p:nvSpPr>
          <p:cNvPr id="9" name="">
            <a:extLst xmlns:a="http://schemas.openxmlformats.org/drawingml/2006/main">
              <a:ext uri="{FF2B5EF4-FFF2-40B4-BE49-F238E27FC236}">
                <a16:creationId xmlns:a16="http://schemas.microsoft.com/office/drawing/2014/main" id="{BFBACBB7-5F99-4326-8210-FE0CBC98FFBA}"/>
              </a:ext>
            </a:extLst>
          </p:cNvPr>
          <p:cNvSpPr>
            <a:spLocks xmlns:a="http://schemas.openxmlformats.org/drawingml/2006/main" noGrp="1"/>
          </p:cNvSpPr>
          <p:nvPr/>
        </p:nvSpPr>
        <p:spPr>
          <a:xfrm xmlns:a="http://schemas.openxmlformats.org/drawingml/2006/main">
            <a:off x="4000500" y="3876675"/>
            <a:ext cx="723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4283E"/>
                </a:solidFill>
                <a:latin typeface="Arial"/>
                <a:ea typeface="Arial"/>
                <a:cs typeface="Arial"/>
              </a:defRPr>
            </a:defPPr>
          </a:lstStyle>
          <a:p xmlns:a="http://schemas.openxmlformats.org/drawingml/2006/main">
            <a:pPr algn="l">
              <a:defRPr sz="2175" b="0">
                <a:solidFill>
                  <a:srgbClr val="14283E"/>
                </a:solidFill>
                <a:latin typeface="Arial"/>
                <a:ea typeface="Arial"/>
                <a:cs typeface="Arial"/>
              </a:defRPr>
            </a:pPr>
            <a:r>
              <a:rPr sz="2175" b="0">
                <a:solidFill>
                  <a:srgbClr val="14283E"/>
                </a:solidFill>
                <a:latin typeface="Arial"/>
                <a:ea typeface="Arial"/>
                <a:cs typeface="Arial"/>
              </a:rPr>
              <a:t>Materials, stock, lead times, price conditions</a:t>
            </a:r>
          </a:p>
        </p:txBody>
      </p:sp>
      <p:sp>
        <p:nvSpPr>
          <p:cNvPr id="10" name="">
            <a:extLst xmlns:a="http://schemas.openxmlformats.org/drawingml/2006/main">
              <a:ext uri="{FF2B5EF4-FFF2-40B4-BE49-F238E27FC236}">
                <a16:creationId xmlns:a16="http://schemas.microsoft.com/office/drawing/2014/main" id="{6AFB9DFC-2A59-44BA-A00D-D5323EA35286}"/>
              </a:ext>
            </a:extLst>
          </p:cNvPr>
          <p:cNvSpPr>
            <a:spLocks xmlns:a="http://schemas.openxmlformats.org/drawingml/2006/main" noGrp="1"/>
          </p:cNvSpPr>
          <p:nvPr/>
        </p:nvSpPr>
        <p:spPr>
          <a:xfrm xmlns:a="http://schemas.openxmlformats.org/drawingml/2006/main">
            <a:off x="685800" y="46672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147D79"/>
                </a:solidFill>
                <a:latin typeface="Arial"/>
                <a:ea typeface="Arial"/>
                <a:cs typeface="Arial"/>
              </a:defRPr>
            </a:defPPr>
          </a:lstStyle>
          <a:p xmlns:a="http://schemas.openxmlformats.org/drawingml/2006/main">
            <a:pPr algn="l">
              <a:defRPr sz="2325" b="1">
                <a:solidFill>
                  <a:srgbClr val="147D79"/>
                </a:solidFill>
                <a:latin typeface="Arial"/>
                <a:ea typeface="Arial"/>
                <a:cs typeface="Arial"/>
              </a:defRPr>
            </a:pPr>
            <a:r>
              <a:rPr sz="2325" b="1">
                <a:solidFill>
                  <a:srgbClr val="147D79"/>
                </a:solidFill>
                <a:latin typeface="Arial"/>
                <a:ea typeface="Arial"/>
                <a:cs typeface="Arial"/>
              </a:rPr>
              <a:t>Webmail</a:t>
            </a:r>
          </a:p>
        </p:txBody>
      </p:sp>
      <p:sp>
        <p:nvSpPr>
          <p:cNvPr id="11" name="">
            <a:extLst xmlns:a="http://schemas.openxmlformats.org/drawingml/2006/main">
              <a:ext uri="{FF2B5EF4-FFF2-40B4-BE49-F238E27FC236}">
                <a16:creationId xmlns:a16="http://schemas.microsoft.com/office/drawing/2014/main" id="{4C9D5BAF-06E2-47B6-920C-FB7FB2C1E46A}"/>
              </a:ext>
            </a:extLst>
          </p:cNvPr>
          <p:cNvSpPr>
            <a:spLocks xmlns:a="http://schemas.openxmlformats.org/drawingml/2006/main" noGrp="1"/>
          </p:cNvSpPr>
          <p:nvPr/>
        </p:nvSpPr>
        <p:spPr>
          <a:xfrm xmlns:a="http://schemas.openxmlformats.org/drawingml/2006/main">
            <a:off x="4000500" y="4686300"/>
            <a:ext cx="723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4283E"/>
                </a:solidFill>
                <a:latin typeface="Arial"/>
                <a:ea typeface="Arial"/>
                <a:cs typeface="Arial"/>
              </a:defRPr>
            </a:defPPr>
          </a:lstStyle>
          <a:p xmlns:a="http://schemas.openxmlformats.org/drawingml/2006/main">
            <a:pPr algn="l">
              <a:defRPr sz="2175" b="0">
                <a:solidFill>
                  <a:srgbClr val="14283E"/>
                </a:solidFill>
                <a:latin typeface="Arial"/>
                <a:ea typeface="Arial"/>
                <a:cs typeface="Arial"/>
              </a:defRPr>
            </a:pPr>
            <a:r>
              <a:rPr sz="2175" b="0">
                <a:solidFill>
                  <a:srgbClr val="14283E"/>
                </a:solidFill>
                <a:latin typeface="Arial"/>
                <a:ea typeface="Arial"/>
                <a:cs typeface="Arial"/>
              </a:rPr>
              <a:t>Authorized terms, approvals, and signing TAN</a:t>
            </a:r>
          </a:p>
        </p:txBody>
      </p:sp>
      <p:sp>
        <p:nvSpPr>
          <p:cNvPr id="12" name="">
            <a:extLst xmlns:a="http://schemas.openxmlformats.org/drawingml/2006/main">
              <a:ext uri="{FF2B5EF4-FFF2-40B4-BE49-F238E27FC236}">
                <a16:creationId xmlns:a16="http://schemas.microsoft.com/office/drawing/2014/main" id="{468E0628-155F-4472-813E-BBB79FA88B6F}"/>
              </a:ext>
            </a:extLst>
          </p:cNvPr>
          <p:cNvSpPr>
            <a:spLocks xmlns:a="http://schemas.openxmlformats.org/drawingml/2006/main" noGrp="1"/>
          </p:cNvSpPr>
          <p:nvPr/>
        </p:nvSpPr>
        <p:spPr>
          <a:xfrm xmlns:a="http://schemas.openxmlformats.org/drawingml/2006/main">
            <a:off x="685800" y="5695950"/>
            <a:ext cx="1062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526579"/>
                </a:solidFill>
                <a:latin typeface="Arial"/>
                <a:ea typeface="Arial"/>
                <a:cs typeface="Arial"/>
              </a:defRPr>
            </a:defPPr>
          </a:lstStyle>
          <a:p xmlns:a="http://schemas.openxmlformats.org/drawingml/2006/main">
            <a:pPr algn="l">
              <a:defRPr sz="1950" b="0">
                <a:solidFill>
                  <a:srgbClr val="526579"/>
                </a:solidFill>
                <a:latin typeface="Arial"/>
                <a:ea typeface="Arial"/>
                <a:cs typeface="Arial"/>
              </a:defRPr>
            </a:pPr>
            <a:r>
              <a:rPr sz="1950" b="0">
                <a:solidFill>
                  <a:srgbClr val="526579"/>
                </a:solidFill>
                <a:latin typeface="Arial"/>
                <a:ea typeface="Arial"/>
                <a:cs typeface="Arial"/>
              </a:rPr>
              <a:t>The challenge: reconcile current evidence before committing a bid.</a:t>
            </a:r>
          </a:p>
        </p:txBody>
      </p:sp>
    </p:spTree>
    <p:extLst>
      <p:ext uri="{BB962C8B-B14F-4D97-AF65-F5344CB8AC3E}">
        <p14:creationId xmlns:p14="http://schemas.microsoft.com/office/powerpoint/2010/main" val="20676472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5CDD8F5-D926-446A-BB51-19EDB0F7E495}"/>
              </a:ext>
            </a:extLst>
          </p:cNvPr>
          <p:cNvSpPr>
            <a:spLocks xmlns:a="http://schemas.openxmlformats.org/drawingml/2006/main" noGrp="1"/>
          </p:cNvSpPr>
          <p:nvPr/>
        </p:nvSpPr>
        <p:spPr>
          <a:xfrm xmlns:a="http://schemas.openxmlformats.org/drawingml/2006/main">
            <a:off x="685800" y="5905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600" b="1">
                <a:solidFill>
                  <a:srgbClr val="14283E"/>
                </a:solidFill>
                <a:latin typeface="Arial"/>
                <a:ea typeface="Arial"/>
                <a:cs typeface="Arial"/>
              </a:defRPr>
            </a:defPPr>
          </a:lstStyle>
          <a:p xmlns:a="http://schemas.openxmlformats.org/drawingml/2006/main">
            <a:pPr algn="l">
              <a:defRPr sz="3600" b="1">
                <a:solidFill>
                  <a:srgbClr val="14283E"/>
                </a:solidFill>
                <a:latin typeface="Arial"/>
                <a:ea typeface="Arial"/>
                <a:cs typeface="Arial"/>
              </a:defRPr>
            </a:pPr>
            <a:r>
              <a:rPr sz="3600" b="1">
                <a:solidFill>
                  <a:srgbClr val="14283E"/>
                </a:solidFill>
                <a:latin typeface="Arial"/>
                <a:ea typeface="Arial"/>
                <a:cs typeface="Arial"/>
              </a:rPr>
              <a:t>Evidence to signed bid</a:t>
            </a:r>
          </a:p>
        </p:txBody>
      </p:sp>
      <p:sp>
        <p:nvSpPr>
          <p:cNvPr id="2" name="">
            <a:extLst xmlns:a="http://schemas.openxmlformats.org/drawingml/2006/main">
              <a:ext uri="{FF2B5EF4-FFF2-40B4-BE49-F238E27FC236}">
                <a16:creationId xmlns:a16="http://schemas.microsoft.com/office/drawing/2014/main" id="{38F8242E-078F-481D-A2DC-131462CC0FF1}"/>
              </a:ext>
            </a:extLst>
          </p:cNvPr>
          <p:cNvSpPr>
            <a:spLocks xmlns:a="http://schemas.openxmlformats.org/drawingml/2006/main" noGrp="1"/>
          </p:cNvSpPr>
          <p:nvPr/>
        </p:nvSpPr>
        <p:spPr>
          <a:xfrm xmlns:a="http://schemas.openxmlformats.org/drawingml/2006/main">
            <a:off x="10572750" y="6324600"/>
            <a:ext cx="93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26579"/>
                </a:solidFill>
                <a:latin typeface="Arial"/>
                <a:ea typeface="Arial"/>
                <a:cs typeface="Arial"/>
              </a:defRPr>
            </a:defPPr>
          </a:lstStyle>
          <a:p xmlns:a="http://schemas.openxmlformats.org/drawingml/2006/main">
            <a:pPr algn="r">
              <a:defRPr sz="1350" b="0">
                <a:solidFill>
                  <a:srgbClr val="526579"/>
                </a:solidFill>
                <a:latin typeface="Arial"/>
                <a:ea typeface="Arial"/>
                <a:cs typeface="Arial"/>
              </a:defRPr>
            </a:pPr>
            <a:r>
              <a:rPr sz="1350" b="0">
                <a:solidFill>
                  <a:srgbClr val="526579"/>
                </a:solidFill>
                <a:latin typeface="Arial"/>
                <a:ea typeface="Arial"/>
                <a:cs typeface="Arial"/>
              </a:rPr>
              <a:t>03 / 06</a:t>
            </a:r>
          </a:p>
        </p:txBody>
      </p:sp>
      <p:sp>
        <p:nvSpPr>
          <p:cNvPr id="3" name="">
            <a:extLst xmlns:a="http://schemas.openxmlformats.org/drawingml/2006/main">
              <a:ext uri="{FF2B5EF4-FFF2-40B4-BE49-F238E27FC236}">
                <a16:creationId xmlns:a16="http://schemas.microsoft.com/office/drawing/2014/main" id="{B065CF78-328F-4D30-89F4-106A0EE186A1}"/>
              </a:ext>
            </a:extLst>
          </p:cNvPr>
          <p:cNvSpPr>
            <a:spLocks xmlns:a="http://schemas.openxmlformats.org/drawingml/2006/main" noGrp="1"/>
          </p:cNvSpPr>
          <p:nvPr/>
        </p:nvSpPr>
        <p:spPr>
          <a:xfrm xmlns:a="http://schemas.openxmlformats.org/drawingml/2006/main">
            <a:off x="685800" y="1790700"/>
            <a:ext cx="704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75" b="1">
                <a:solidFill>
                  <a:srgbClr val="147D79"/>
                </a:solidFill>
                <a:latin typeface="Arial"/>
                <a:ea typeface="Arial"/>
                <a:cs typeface="Arial"/>
              </a:defRPr>
            </a:defPPr>
          </a:lstStyle>
          <a:p xmlns:a="http://schemas.openxmlformats.org/drawingml/2006/main">
            <a:pPr algn="l">
              <a:defRPr sz="3375" b="1">
                <a:solidFill>
                  <a:srgbClr val="147D79"/>
                </a:solidFill>
                <a:latin typeface="Arial"/>
                <a:ea typeface="Arial"/>
                <a:cs typeface="Arial"/>
              </a:defRPr>
            </a:pPr>
            <a:r>
              <a:rPr sz="3375" b="1">
                <a:solidFill>
                  <a:srgbClr val="147D79"/>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232C2F57-6A96-4266-B68E-ED15795B801E}"/>
              </a:ext>
            </a:extLst>
          </p:cNvPr>
          <p:cNvSpPr>
            <a:spLocks xmlns:a="http://schemas.openxmlformats.org/drawingml/2006/main" noGrp="1"/>
          </p:cNvSpPr>
          <p:nvPr/>
        </p:nvSpPr>
        <p:spPr>
          <a:xfrm xmlns:a="http://schemas.openxmlformats.org/drawingml/2006/main">
            <a:off x="1657350" y="179070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14283E"/>
                </a:solidFill>
                <a:latin typeface="Arial"/>
                <a:ea typeface="Arial"/>
                <a:cs typeface="Arial"/>
              </a:defRPr>
            </a:defPPr>
          </a:lstStyle>
          <a:p xmlns:a="http://schemas.openxmlformats.org/drawingml/2006/main">
            <a:pPr algn="l">
              <a:defRPr sz="2475" b="1">
                <a:solidFill>
                  <a:srgbClr val="14283E"/>
                </a:solidFill>
                <a:latin typeface="Arial"/>
                <a:ea typeface="Arial"/>
                <a:cs typeface="Arial"/>
              </a:defRPr>
            </a:pPr>
            <a:r>
              <a:rPr sz="2475" b="1">
                <a:solidFill>
                  <a:srgbClr val="14283E"/>
                </a:solidFill>
                <a:latin typeface="Arial"/>
                <a:ea typeface="Arial"/>
                <a:cs typeface="Arial"/>
              </a:rPr>
              <a:t>Investigate</a:t>
            </a:r>
          </a:p>
        </p:txBody>
      </p:sp>
      <p:sp>
        <p:nvSpPr>
          <p:cNvPr id="5" name="">
            <a:extLst xmlns:a="http://schemas.openxmlformats.org/drawingml/2006/main">
              <a:ext uri="{FF2B5EF4-FFF2-40B4-BE49-F238E27FC236}">
                <a16:creationId xmlns:a16="http://schemas.microsoft.com/office/drawing/2014/main" id="{54971965-E7D0-4528-B78B-0D7FA5FF842B}"/>
              </a:ext>
            </a:extLst>
          </p:cNvPr>
          <p:cNvSpPr>
            <a:spLocks xmlns:a="http://schemas.openxmlformats.org/drawingml/2006/main" noGrp="1"/>
          </p:cNvSpPr>
          <p:nvPr/>
        </p:nvSpPr>
        <p:spPr>
          <a:xfrm xmlns:a="http://schemas.openxmlformats.org/drawingml/2006/main">
            <a:off x="1657350" y="2228850"/>
            <a:ext cx="952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526579"/>
                </a:solidFill>
                <a:latin typeface="Arial"/>
                <a:ea typeface="Arial"/>
                <a:cs typeface="Arial"/>
              </a:defRPr>
            </a:defPPr>
          </a:lstStyle>
          <a:p xmlns:a="http://schemas.openxmlformats.org/drawingml/2006/main">
            <a:pPr algn="l">
              <a:defRPr sz="2025" b="0">
                <a:solidFill>
                  <a:srgbClr val="526579"/>
                </a:solidFill>
                <a:latin typeface="Arial"/>
                <a:ea typeface="Arial"/>
                <a:cs typeface="Arial"/>
              </a:defRPr>
            </a:pPr>
            <a:r>
              <a:rPr sz="2025" b="0">
                <a:solidFill>
                  <a:srgbClr val="526579"/>
                </a:solidFill>
                <a:latin typeface="Arial"/>
                <a:ea typeface="Arial"/>
                <a:cs typeface="Arial"/>
              </a:rPr>
              <a:t>Read requirements, revisions, quantities, and approvals.</a:t>
            </a:r>
          </a:p>
        </p:txBody>
      </p:sp>
      <p:sp>
        <p:nvSpPr>
          <p:cNvPr id="6" name="">
            <a:extLst xmlns:a="http://schemas.openxmlformats.org/drawingml/2006/main">
              <a:ext uri="{FF2B5EF4-FFF2-40B4-BE49-F238E27FC236}">
                <a16:creationId xmlns:a16="http://schemas.microsoft.com/office/drawing/2014/main" id="{870EB898-8BE9-4D65-BFDE-4B9B86BD6FA3}"/>
              </a:ext>
            </a:extLst>
          </p:cNvPr>
          <p:cNvSpPr>
            <a:spLocks xmlns:a="http://schemas.openxmlformats.org/drawingml/2006/main" noGrp="1"/>
          </p:cNvSpPr>
          <p:nvPr/>
        </p:nvSpPr>
        <p:spPr>
          <a:xfrm xmlns:a="http://schemas.openxmlformats.org/drawingml/2006/main">
            <a:off x="685800" y="2809875"/>
            <a:ext cx="704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75" b="1">
                <a:solidFill>
                  <a:srgbClr val="147D79"/>
                </a:solidFill>
                <a:latin typeface="Arial"/>
                <a:ea typeface="Arial"/>
                <a:cs typeface="Arial"/>
              </a:defRPr>
            </a:defPPr>
          </a:lstStyle>
          <a:p xmlns:a="http://schemas.openxmlformats.org/drawingml/2006/main">
            <a:pPr algn="l">
              <a:defRPr sz="3375" b="1">
                <a:solidFill>
                  <a:srgbClr val="147D79"/>
                </a:solidFill>
                <a:latin typeface="Arial"/>
                <a:ea typeface="Arial"/>
                <a:cs typeface="Arial"/>
              </a:defRPr>
            </a:pPr>
            <a:r>
              <a:rPr sz="3375" b="1">
                <a:solidFill>
                  <a:srgbClr val="147D79"/>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598FD127-DC02-49A2-A5AF-BAE130AA8327}"/>
              </a:ext>
            </a:extLst>
          </p:cNvPr>
          <p:cNvSpPr>
            <a:spLocks xmlns:a="http://schemas.openxmlformats.org/drawingml/2006/main" noGrp="1"/>
          </p:cNvSpPr>
          <p:nvPr/>
        </p:nvSpPr>
        <p:spPr>
          <a:xfrm xmlns:a="http://schemas.openxmlformats.org/drawingml/2006/main">
            <a:off x="1657350" y="280987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14283E"/>
                </a:solidFill>
                <a:latin typeface="Arial"/>
                <a:ea typeface="Arial"/>
                <a:cs typeface="Arial"/>
              </a:defRPr>
            </a:defPPr>
          </a:lstStyle>
          <a:p xmlns:a="http://schemas.openxmlformats.org/drawingml/2006/main">
            <a:pPr algn="l">
              <a:defRPr sz="2475" b="1">
                <a:solidFill>
                  <a:srgbClr val="14283E"/>
                </a:solidFill>
                <a:latin typeface="Arial"/>
                <a:ea typeface="Arial"/>
                <a:cs typeface="Arial"/>
              </a:defRPr>
            </a:pPr>
            <a:r>
              <a:rPr sz="2475" b="1">
                <a:solidFill>
                  <a:srgbClr val="14283E"/>
                </a:solidFill>
                <a:latin typeface="Arial"/>
                <a:ea typeface="Arial"/>
                <a:cs typeface="Arial"/>
              </a:rPr>
              <a:t>Match &amp; calculate</a:t>
            </a:r>
          </a:p>
        </p:txBody>
      </p:sp>
      <p:sp>
        <p:nvSpPr>
          <p:cNvPr id="8" name="">
            <a:extLst xmlns:a="http://schemas.openxmlformats.org/drawingml/2006/main">
              <a:ext uri="{FF2B5EF4-FFF2-40B4-BE49-F238E27FC236}">
                <a16:creationId xmlns:a16="http://schemas.microsoft.com/office/drawing/2014/main" id="{DFBCDCAA-3DC1-4C99-BA87-FC8D7578A7EA}"/>
              </a:ext>
            </a:extLst>
          </p:cNvPr>
          <p:cNvSpPr>
            <a:spLocks xmlns:a="http://schemas.openxmlformats.org/drawingml/2006/main" noGrp="1"/>
          </p:cNvSpPr>
          <p:nvPr/>
        </p:nvSpPr>
        <p:spPr>
          <a:xfrm xmlns:a="http://schemas.openxmlformats.org/drawingml/2006/main">
            <a:off x="1657350" y="3248025"/>
            <a:ext cx="952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526579"/>
                </a:solidFill>
                <a:latin typeface="Arial"/>
                <a:ea typeface="Arial"/>
                <a:cs typeface="Arial"/>
              </a:defRPr>
            </a:defPPr>
          </a:lstStyle>
          <a:p xmlns:a="http://schemas.openxmlformats.org/drawingml/2006/main">
            <a:pPr algn="l">
              <a:defRPr sz="2025" b="0">
                <a:solidFill>
                  <a:srgbClr val="526579"/>
                </a:solidFill>
                <a:latin typeface="Arial"/>
                <a:ea typeface="Arial"/>
                <a:cs typeface="Arial"/>
              </a:defRPr>
            </a:pPr>
            <a:r>
              <a:rPr sz="2025" b="0">
                <a:solidFill>
                  <a:srgbClr val="526579"/>
                </a:solidFill>
                <a:latin typeface="Arial"/>
                <a:ea typeface="Arial"/>
                <a:cs typeface="Arial"/>
              </a:rPr>
              <a:t>Select materials; compute prices, charges, and delivery.</a:t>
            </a:r>
          </a:p>
        </p:txBody>
      </p:sp>
      <p:sp>
        <p:nvSpPr>
          <p:cNvPr id="9" name="">
            <a:extLst xmlns:a="http://schemas.openxmlformats.org/drawingml/2006/main">
              <a:ext uri="{FF2B5EF4-FFF2-40B4-BE49-F238E27FC236}">
                <a16:creationId xmlns:a16="http://schemas.microsoft.com/office/drawing/2014/main" id="{FCF28FF4-3D7E-4FC9-86A9-44CD4437B3F3}"/>
              </a:ext>
            </a:extLst>
          </p:cNvPr>
          <p:cNvSpPr>
            <a:spLocks xmlns:a="http://schemas.openxmlformats.org/drawingml/2006/main" noGrp="1"/>
          </p:cNvSpPr>
          <p:nvPr/>
        </p:nvSpPr>
        <p:spPr>
          <a:xfrm xmlns:a="http://schemas.openxmlformats.org/drawingml/2006/main">
            <a:off x="685800" y="3829050"/>
            <a:ext cx="704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75" b="1">
                <a:solidFill>
                  <a:srgbClr val="147D79"/>
                </a:solidFill>
                <a:latin typeface="Arial"/>
                <a:ea typeface="Arial"/>
                <a:cs typeface="Arial"/>
              </a:defRPr>
            </a:defPPr>
          </a:lstStyle>
          <a:p xmlns:a="http://schemas.openxmlformats.org/drawingml/2006/main">
            <a:pPr algn="l">
              <a:defRPr sz="3375" b="1">
                <a:solidFill>
                  <a:srgbClr val="147D79"/>
                </a:solidFill>
                <a:latin typeface="Arial"/>
                <a:ea typeface="Arial"/>
                <a:cs typeface="Arial"/>
              </a:defRPr>
            </a:pPr>
            <a:r>
              <a:rPr sz="3375" b="1">
                <a:solidFill>
                  <a:srgbClr val="147D79"/>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2FF8A60B-39D3-4CF4-A48F-54CBB74165B1}"/>
              </a:ext>
            </a:extLst>
          </p:cNvPr>
          <p:cNvSpPr>
            <a:spLocks xmlns:a="http://schemas.openxmlformats.org/drawingml/2006/main" noGrp="1"/>
          </p:cNvSpPr>
          <p:nvPr/>
        </p:nvSpPr>
        <p:spPr>
          <a:xfrm xmlns:a="http://schemas.openxmlformats.org/drawingml/2006/main">
            <a:off x="1657350" y="38290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14283E"/>
                </a:solidFill>
                <a:latin typeface="Arial"/>
                <a:ea typeface="Arial"/>
                <a:cs typeface="Arial"/>
              </a:defRPr>
            </a:defPPr>
          </a:lstStyle>
          <a:p xmlns:a="http://schemas.openxmlformats.org/drawingml/2006/main">
            <a:pPr algn="l">
              <a:defRPr sz="2475" b="1">
                <a:solidFill>
                  <a:srgbClr val="14283E"/>
                </a:solidFill>
                <a:latin typeface="Arial"/>
                <a:ea typeface="Arial"/>
                <a:cs typeface="Arial"/>
              </a:defRPr>
            </a:pPr>
            <a:r>
              <a:rPr sz="2475" b="1">
                <a:solidFill>
                  <a:srgbClr val="14283E"/>
                </a:solidFill>
                <a:latin typeface="Arial"/>
                <a:ea typeface="Arial"/>
                <a:cs typeface="Arial"/>
              </a:rPr>
              <a:t>Validate &amp; review</a:t>
            </a:r>
          </a:p>
        </p:txBody>
      </p:sp>
      <p:sp>
        <p:nvSpPr>
          <p:cNvPr id="11" name="">
            <a:extLst xmlns:a="http://schemas.openxmlformats.org/drawingml/2006/main">
              <a:ext uri="{FF2B5EF4-FFF2-40B4-BE49-F238E27FC236}">
                <a16:creationId xmlns:a16="http://schemas.microsoft.com/office/drawing/2014/main" id="{B6C002A7-165C-48A6-BCAC-D7C8B38CB5C4}"/>
              </a:ext>
            </a:extLst>
          </p:cNvPr>
          <p:cNvSpPr>
            <a:spLocks xmlns:a="http://schemas.openxmlformats.org/drawingml/2006/main" noGrp="1"/>
          </p:cNvSpPr>
          <p:nvPr/>
        </p:nvSpPr>
        <p:spPr>
          <a:xfrm xmlns:a="http://schemas.openxmlformats.org/drawingml/2006/main">
            <a:off x="1657350" y="4267200"/>
            <a:ext cx="952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526579"/>
                </a:solidFill>
                <a:latin typeface="Arial"/>
                <a:ea typeface="Arial"/>
                <a:cs typeface="Arial"/>
              </a:defRPr>
            </a:defPPr>
          </a:lstStyle>
          <a:p xmlns:a="http://schemas.openxmlformats.org/drawingml/2006/main">
            <a:pPr algn="l">
              <a:defRPr sz="2025" b="0">
                <a:solidFill>
                  <a:srgbClr val="526579"/>
                </a:solidFill>
                <a:latin typeface="Arial"/>
                <a:ea typeface="Arial"/>
                <a:cs typeface="Arial"/>
              </a:defRPr>
            </a:pPr>
            <a:r>
              <a:rPr sz="2025" b="0">
                <a:solidFill>
                  <a:srgbClr val="526579"/>
                </a:solidFill>
                <a:latin typeface="Arial"/>
                <a:ea typeface="Arial"/>
                <a:cs typeface="Arial"/>
              </a:rPr>
              <a:t>Check evidence and formulas; compare the displayed bid.</a:t>
            </a:r>
          </a:p>
        </p:txBody>
      </p:sp>
      <p:sp>
        <p:nvSpPr>
          <p:cNvPr id="12" name="">
            <a:extLst xmlns:a="http://schemas.openxmlformats.org/drawingml/2006/main">
              <a:ext uri="{FF2B5EF4-FFF2-40B4-BE49-F238E27FC236}">
                <a16:creationId xmlns:a16="http://schemas.microsoft.com/office/drawing/2014/main" id="{1C211E96-E1F5-4EC5-94EB-BC0D5B6F4DFE}"/>
              </a:ext>
            </a:extLst>
          </p:cNvPr>
          <p:cNvSpPr>
            <a:spLocks xmlns:a="http://schemas.openxmlformats.org/drawingml/2006/main" noGrp="1"/>
          </p:cNvSpPr>
          <p:nvPr/>
        </p:nvSpPr>
        <p:spPr>
          <a:xfrm xmlns:a="http://schemas.openxmlformats.org/drawingml/2006/main">
            <a:off x="685800" y="4848225"/>
            <a:ext cx="704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75" b="1">
                <a:solidFill>
                  <a:srgbClr val="147D79"/>
                </a:solidFill>
                <a:latin typeface="Arial"/>
                <a:ea typeface="Arial"/>
                <a:cs typeface="Arial"/>
              </a:defRPr>
            </a:defPPr>
          </a:lstStyle>
          <a:p xmlns:a="http://schemas.openxmlformats.org/drawingml/2006/main">
            <a:pPr algn="l">
              <a:defRPr sz="3375" b="1">
                <a:solidFill>
                  <a:srgbClr val="147D79"/>
                </a:solidFill>
                <a:latin typeface="Arial"/>
                <a:ea typeface="Arial"/>
                <a:cs typeface="Arial"/>
              </a:defRPr>
            </a:pPr>
            <a:r>
              <a:rPr sz="3375" b="1">
                <a:solidFill>
                  <a:srgbClr val="147D79"/>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3123D655-30A8-4D7A-A15E-3DF7F71E9045}"/>
              </a:ext>
            </a:extLst>
          </p:cNvPr>
          <p:cNvSpPr>
            <a:spLocks xmlns:a="http://schemas.openxmlformats.org/drawingml/2006/main" noGrp="1"/>
          </p:cNvSpPr>
          <p:nvPr/>
        </p:nvSpPr>
        <p:spPr>
          <a:xfrm xmlns:a="http://schemas.openxmlformats.org/drawingml/2006/main">
            <a:off x="1657350" y="48482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14283E"/>
                </a:solidFill>
                <a:latin typeface="Arial"/>
                <a:ea typeface="Arial"/>
                <a:cs typeface="Arial"/>
              </a:defRPr>
            </a:defPPr>
          </a:lstStyle>
          <a:p xmlns:a="http://schemas.openxmlformats.org/drawingml/2006/main">
            <a:pPr algn="l">
              <a:defRPr sz="2475" b="1">
                <a:solidFill>
                  <a:srgbClr val="14283E"/>
                </a:solidFill>
                <a:latin typeface="Arial"/>
                <a:ea typeface="Arial"/>
                <a:cs typeface="Arial"/>
              </a:defRPr>
            </a:pPr>
            <a:r>
              <a:rPr sz="2475" b="1">
                <a:solidFill>
                  <a:srgbClr val="14283E"/>
                </a:solidFill>
                <a:latin typeface="Arial"/>
                <a:ea typeface="Arial"/>
                <a:cs typeface="Arial"/>
              </a:rPr>
              <a:t>Sign &amp; confirm</a:t>
            </a:r>
          </a:p>
        </p:txBody>
      </p:sp>
      <p:sp>
        <p:nvSpPr>
          <p:cNvPr id="14" name="">
            <a:extLst xmlns:a="http://schemas.openxmlformats.org/drawingml/2006/main">
              <a:ext uri="{FF2B5EF4-FFF2-40B4-BE49-F238E27FC236}">
                <a16:creationId xmlns:a16="http://schemas.microsoft.com/office/drawing/2014/main" id="{63713B0B-BC4F-4953-8D4F-1028A2790B6D}"/>
              </a:ext>
            </a:extLst>
          </p:cNvPr>
          <p:cNvSpPr>
            <a:spLocks xmlns:a="http://schemas.openxmlformats.org/drawingml/2006/main" noGrp="1"/>
          </p:cNvSpPr>
          <p:nvPr/>
        </p:nvSpPr>
        <p:spPr>
          <a:xfrm xmlns:a="http://schemas.openxmlformats.org/drawingml/2006/main">
            <a:off x="1657350" y="5286375"/>
            <a:ext cx="952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526579"/>
                </a:solidFill>
                <a:latin typeface="Arial"/>
                <a:ea typeface="Arial"/>
                <a:cs typeface="Arial"/>
              </a:defRPr>
            </a:defPPr>
          </a:lstStyle>
          <a:p xmlns:a="http://schemas.openxmlformats.org/drawingml/2006/main">
            <a:pPr algn="l">
              <a:defRPr sz="2025" b="0">
                <a:solidFill>
                  <a:srgbClr val="526579"/>
                </a:solidFill>
                <a:latin typeface="Arial"/>
                <a:ea typeface="Arial"/>
                <a:cs typeface="Arial"/>
              </a:defRPr>
            </a:pPr>
            <a:r>
              <a:rPr sz="2025" b="0">
                <a:solidFill>
                  <a:srgbClr val="526579"/>
                </a:solidFill>
                <a:latin typeface="Arial"/>
                <a:ea typeface="Arial"/>
                <a:cs typeface="Arial"/>
              </a:rPr>
              <a:t>Retrieve the TAN, sign, and verify the accepted receipt.</a:t>
            </a:r>
          </a:p>
        </p:txBody>
      </p:sp>
    </p:spTree>
    <p:extLst>
      <p:ext uri="{BB962C8B-B14F-4D97-AF65-F5344CB8AC3E}">
        <p14:creationId xmlns:p14="http://schemas.microsoft.com/office/powerpoint/2010/main" val="4215785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49318CFF-9D24-4573-93A6-1866C4BB48B6}"/>
              </a:ext>
            </a:extLst>
          </p:cNvPr>
          <p:cNvCxnSpPr>
            <a:stCxn xmlns:a="http://schemas.openxmlformats.org/drawingml/2006/main" id="5" idx="2"/>
            <a:endCxn xmlns:a="http://schemas.openxmlformats.org/drawingml/2006/main" id="11" idx="0"/>
          </p:cNvCxnSpPr>
          <p:nvPr/>
        </p:nvCxnSpPr>
        <p:spPr>
          <a:xfrm xmlns:a="http://schemas.openxmlformats.org/drawingml/2006/main">
            <a:off x="6334125" y="3124200"/>
            <a:ext cx="3824288" cy="809625"/>
          </a:xfrm>
          <a:prstGeom xmlns:a="http://schemas.openxmlformats.org/drawingml/2006/main" prst="bentConnector4">
            <a:avLst>
              <a:gd name="adj1" fmla="val 0"/>
              <a:gd name="adj2" fmla="val 50000"/>
            </a:avLst>
          </a:prstGeom>
          <a:ln xmlns:a="http://schemas.openxmlformats.org/drawingml/2006/main" w="19050">
            <a:solidFill>
              <a:srgbClr val="147D79"/>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FCEC15DC-D90B-4678-8A90-CFDE1E63B40D}"/>
              </a:ext>
            </a:extLst>
          </p:cNvPr>
          <p:cNvCxnSpPr>
            <a:stCxn xmlns:a="http://schemas.openxmlformats.org/drawingml/2006/main" id="5" idx="2"/>
            <a:endCxn xmlns:a="http://schemas.openxmlformats.org/drawingml/2006/main" id="10" idx="0"/>
          </p:cNvCxnSpPr>
          <p:nvPr/>
        </p:nvCxnSpPr>
        <p:spPr>
          <a:xfrm xmlns:a="http://schemas.openxmlformats.org/drawingml/2006/main">
            <a:off x="6334125" y="3124200"/>
            <a:ext cx="0" cy="809625"/>
          </a:xfrm>
          <a:prstGeom xmlns:a="http://schemas.openxmlformats.org/drawingml/2006/main" prst="straightConnector1">
            <a:avLst/>
          </a:prstGeom>
          <a:ln xmlns:a="http://schemas.openxmlformats.org/drawingml/2006/main" w="19050">
            <a:solidFill>
              <a:srgbClr val="147D79"/>
            </a:solidFill>
            <a:prstDash val="solid"/>
            <a:headEnd type="triangle" w="med" len="med"/>
            <a:tailEnd type="triangle" w="med" len="med"/>
          </a:ln>
        </p:spPr>
      </p:cxnSp>
      <p:cxnSp>
        <p:nvCxnSpPr>
          <p:cNvPr id="12" name="">
            <a:extLst xmlns:a="http://schemas.openxmlformats.org/drawingml/2006/main">
              <a:ext uri="{FF2B5EF4-FFF2-40B4-BE49-F238E27FC236}">
                <a16:creationId xmlns:a16="http://schemas.microsoft.com/office/drawing/2014/main" id="{EA8A41FD-EE8F-448B-85A7-F4B41C8ABE6B}"/>
              </a:ext>
            </a:extLst>
          </p:cNvPr>
          <p:cNvCxnSpPr>
            <a:stCxn xmlns:a="http://schemas.openxmlformats.org/drawingml/2006/main" id="4" idx="2"/>
            <a:endCxn xmlns:a="http://schemas.openxmlformats.org/drawingml/2006/main" id="9" idx="0"/>
          </p:cNvCxnSpPr>
          <p:nvPr/>
        </p:nvCxnSpPr>
        <p:spPr>
          <a:xfrm xmlns:a="http://schemas.openxmlformats.org/drawingml/2006/main">
            <a:off x="2281238" y="3124200"/>
            <a:ext cx="0" cy="809625"/>
          </a:xfrm>
          <a:prstGeom xmlns:a="http://schemas.openxmlformats.org/drawingml/2006/main" prst="straightConnector1">
            <a:avLst/>
          </a:prstGeom>
          <a:ln xmlns:a="http://schemas.openxmlformats.org/drawingml/2006/main" w="19050">
            <a:solidFill>
              <a:srgbClr val="147D79"/>
            </a:solidFill>
            <a:prstDash val="solid"/>
            <a:headEnd type="triangle" w="med" len="med"/>
            <a:tailEnd type="triangle" w="med" len="med"/>
          </a:ln>
        </p:spPr>
      </p:cxnSp>
      <p:cxnSp>
        <p:nvCxnSpPr>
          <p:cNvPr id="8" name="">
            <a:extLst xmlns:a="http://schemas.openxmlformats.org/drawingml/2006/main">
              <a:ext uri="{FF2B5EF4-FFF2-40B4-BE49-F238E27FC236}">
                <a16:creationId xmlns:a16="http://schemas.microsoft.com/office/drawing/2014/main" id="{1A0DC6FF-5CF1-43CC-8698-7A01D6FC9428}"/>
              </a:ext>
            </a:extLst>
          </p:cNvPr>
          <p:cNvCxnSpPr>
            <a:stCxn xmlns:a="http://schemas.openxmlformats.org/drawingml/2006/main" id="5" idx="3"/>
            <a:endCxn xmlns:a="http://schemas.openxmlformats.org/drawingml/2006/main" id="7" idx="1"/>
          </p:cNvCxnSpPr>
          <p:nvPr/>
        </p:nvCxnSpPr>
        <p:spPr>
          <a:xfrm xmlns:a="http://schemas.openxmlformats.org/drawingml/2006/main">
            <a:off x="8048625" y="2633663"/>
            <a:ext cx="762000" cy="0"/>
          </a:xfrm>
          <a:prstGeom xmlns:a="http://schemas.openxmlformats.org/drawingml/2006/main" prst="straightConnector1">
            <a:avLst/>
          </a:prstGeom>
          <a:ln xmlns:a="http://schemas.openxmlformats.org/drawingml/2006/main" w="19050">
            <a:solidFill>
              <a:srgbClr val="147D79"/>
            </a:solidFill>
            <a:prstDash val="solid"/>
            <a:headEnd type="triangle" w="med" len="med"/>
            <a:tailEnd type="triangle" w="med" len="med"/>
          </a:ln>
        </p:spPr>
      </p:cxnSp>
      <p:cxnSp>
        <p:nvCxnSpPr>
          <p:cNvPr id="6" name="">
            <a:extLst xmlns:a="http://schemas.openxmlformats.org/drawingml/2006/main">
              <a:ext uri="{FF2B5EF4-FFF2-40B4-BE49-F238E27FC236}">
                <a16:creationId xmlns:a16="http://schemas.microsoft.com/office/drawing/2014/main" id="{0C477DE0-F668-43F1-9704-E7FB2B721861}"/>
              </a:ext>
            </a:extLst>
          </p:cNvPr>
          <p:cNvCxnSpPr>
            <a:stCxn xmlns:a="http://schemas.openxmlformats.org/drawingml/2006/main" id="4" idx="3"/>
            <a:endCxn xmlns:a="http://schemas.openxmlformats.org/drawingml/2006/main" id="5" idx="1"/>
          </p:cNvCxnSpPr>
          <p:nvPr/>
        </p:nvCxnSpPr>
        <p:spPr>
          <a:xfrm xmlns:a="http://schemas.openxmlformats.org/drawingml/2006/main">
            <a:off x="3876675" y="2633663"/>
            <a:ext cx="742950" cy="0"/>
          </a:xfrm>
          <a:prstGeom xmlns:a="http://schemas.openxmlformats.org/drawingml/2006/main" prst="straightConnector1">
            <a:avLst/>
          </a:prstGeom>
          <a:ln xmlns:a="http://schemas.openxmlformats.org/drawingml/2006/main" w="19050">
            <a:solidFill>
              <a:srgbClr val="147D79"/>
            </a:solidFill>
            <a:prstDash val="solid"/>
            <a:headEnd type="triangle" w="med" len="med"/>
            <a:tailEnd type="triangle" w="med" len="med"/>
          </a:ln>
        </p:spPr>
      </p:cxnSp>
      <p:sp>
        <p:nvSpPr>
          <p:cNvPr id="16" name="">
            <a:extLst xmlns:a="http://schemas.openxmlformats.org/drawingml/2006/main">
              <a:ext uri="{FF2B5EF4-FFF2-40B4-BE49-F238E27FC236}">
                <a16:creationId xmlns:a16="http://schemas.microsoft.com/office/drawing/2014/main" id="{D3248E5C-76F9-466B-B5E9-7B158B92DBC5}"/>
              </a:ext>
            </a:extLst>
          </p:cNvPr>
          <p:cNvSpPr>
            <a:spLocks xmlns:a="http://schemas.openxmlformats.org/drawingml/2006/main" noGrp="1"/>
          </p:cNvSpPr>
          <p:nvPr/>
        </p:nvSpPr>
        <p:spPr>
          <a:xfrm xmlns:a="http://schemas.openxmlformats.org/drawingml/2006/main">
            <a:off x="685800" y="5905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600" b="1">
                <a:solidFill>
                  <a:srgbClr val="14283E"/>
                </a:solidFill>
                <a:latin typeface="Arial"/>
                <a:ea typeface="Arial"/>
                <a:cs typeface="Arial"/>
              </a:defRPr>
            </a:defPPr>
          </a:lstStyle>
          <a:p xmlns:a="http://schemas.openxmlformats.org/drawingml/2006/main">
            <a:pPr algn="l">
              <a:defRPr sz="3600" b="1">
                <a:solidFill>
                  <a:srgbClr val="14283E"/>
                </a:solidFill>
                <a:latin typeface="Arial"/>
                <a:ea typeface="Arial"/>
                <a:cs typeface="Arial"/>
              </a:defRPr>
            </a:pPr>
            <a:r>
              <a:rPr sz="3600" b="1">
                <a:solidFill>
                  <a:srgbClr val="14283E"/>
                </a:solidFill>
                <a:latin typeface="Arial"/>
                <a:ea typeface="Arial"/>
                <a:cs typeface="Arial"/>
              </a:rPr>
              <a:t>One controller, a model-directed tool loop</a:t>
            </a:r>
          </a:p>
        </p:txBody>
      </p:sp>
      <p:sp>
        <p:nvSpPr>
          <p:cNvPr id="2" name="">
            <a:extLst xmlns:a="http://schemas.openxmlformats.org/drawingml/2006/main">
              <a:ext uri="{FF2B5EF4-FFF2-40B4-BE49-F238E27FC236}">
                <a16:creationId xmlns:a16="http://schemas.microsoft.com/office/drawing/2014/main" id="{5F2C44A6-80DD-4810-8539-BAE11A31A68A}"/>
              </a:ext>
            </a:extLst>
          </p:cNvPr>
          <p:cNvSpPr>
            <a:spLocks xmlns:a="http://schemas.openxmlformats.org/drawingml/2006/main" noGrp="1"/>
          </p:cNvSpPr>
          <p:nvPr/>
        </p:nvSpPr>
        <p:spPr>
          <a:xfrm xmlns:a="http://schemas.openxmlformats.org/drawingml/2006/main">
            <a:off x="10572750" y="6324600"/>
            <a:ext cx="93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26579"/>
                </a:solidFill>
                <a:latin typeface="Arial"/>
                <a:ea typeface="Arial"/>
                <a:cs typeface="Arial"/>
              </a:defRPr>
            </a:defPPr>
          </a:lstStyle>
          <a:p xmlns:a="http://schemas.openxmlformats.org/drawingml/2006/main">
            <a:pPr algn="r">
              <a:defRPr sz="1350" b="0">
                <a:solidFill>
                  <a:srgbClr val="526579"/>
                </a:solidFill>
                <a:latin typeface="Arial"/>
                <a:ea typeface="Arial"/>
                <a:cs typeface="Arial"/>
              </a:defRPr>
            </a:pPr>
            <a:r>
              <a:rPr sz="1350" b="0">
                <a:solidFill>
                  <a:srgbClr val="526579"/>
                </a:solidFill>
                <a:latin typeface="Arial"/>
                <a:ea typeface="Arial"/>
                <a:cs typeface="Arial"/>
              </a:rPr>
              <a:t>04 / 06</a:t>
            </a:r>
          </a:p>
        </p:txBody>
      </p:sp>
      <p:sp>
        <p:nvSpPr>
          <p:cNvPr id="3" name="">
            <a:extLst xmlns:a="http://schemas.openxmlformats.org/drawingml/2006/main">
              <a:ext uri="{FF2B5EF4-FFF2-40B4-BE49-F238E27FC236}">
                <a16:creationId xmlns:a16="http://schemas.microsoft.com/office/drawing/2014/main" id="{3FC86E20-218B-4C0B-8F04-D37AF3414CDE}"/>
              </a:ext>
            </a:extLst>
          </p:cNvPr>
          <p:cNvSpPr>
            <a:spLocks xmlns:a="http://schemas.openxmlformats.org/drawingml/2006/main" noGrp="1"/>
          </p:cNvSpPr>
          <p:nvPr/>
        </p:nvSpPr>
        <p:spPr>
          <a:xfrm xmlns:a="http://schemas.openxmlformats.org/drawingml/2006/main">
            <a:off x="685800" y="14097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526579"/>
                </a:solidFill>
                <a:latin typeface="Arial"/>
                <a:ea typeface="Arial"/>
                <a:cs typeface="Arial"/>
              </a:defRPr>
            </a:defPPr>
          </a:lstStyle>
          <a:p xmlns:a="http://schemas.openxmlformats.org/drawingml/2006/main">
            <a:pPr algn="l">
              <a:defRPr sz="2100" b="0">
                <a:solidFill>
                  <a:srgbClr val="526579"/>
                </a:solidFill>
                <a:latin typeface="Arial"/>
                <a:ea typeface="Arial"/>
                <a:cs typeface="Arial"/>
              </a:defRPr>
            </a:pPr>
            <a:r>
              <a:rPr sz="2100" b="0">
                <a:solidFill>
                  <a:srgbClr val="526579"/>
                </a:solidFill>
                <a:latin typeface="Arial"/>
                <a:ea typeface="Arial"/>
                <a:cs typeface="Arial"/>
              </a:rPr>
              <a:t>Qwen chooses the next action; Python executes and checks it.</a:t>
            </a:r>
          </a:p>
        </p:txBody>
      </p:sp>
      <p:sp>
        <p:nvSpPr>
          <p:cNvPr id="4" name="Qwen&#10;Reasoning &amp; tool selection">
            <a:extLst xmlns:a="http://schemas.openxmlformats.org/drawingml/2006/main">
              <a:ext uri="{FF2B5EF4-FFF2-40B4-BE49-F238E27FC236}">
                <a16:creationId xmlns:a16="http://schemas.microsoft.com/office/drawing/2014/main" id="{8E9370EC-945C-48A0-8967-0F2CCBABFB73}"/>
              </a:ext>
            </a:extLst>
          </p:cNvPr>
          <p:cNvSpPr>
            <a:spLocks xmlns:a="http://schemas.openxmlformats.org/drawingml/2006/main" noGrp="1"/>
          </p:cNvSpPr>
          <p:nvPr/>
        </p:nvSpPr>
        <p:spPr>
          <a:xfrm xmlns:a="http://schemas.openxmlformats.org/drawingml/2006/main">
            <a:off x="685800" y="2143125"/>
            <a:ext cx="3190875" cy="981075"/>
          </a:xfrm>
          <a:prstGeom xmlns:a="http://schemas.openxmlformats.org/drawingml/2006/main" prst="rect">
            <a:avLst/>
          </a:prstGeom>
          <a:solidFill xmlns:a="http://schemas.openxmlformats.org/drawingml/2006/main">
            <a:srgbClr val="14283E"/>
          </a:solidFill>
          <a:ln xmlns:a="http://schemas.openxmlformats.org/drawingml/2006/main" w="9525">
            <a:solidFill>
              <a:srgbClr val="14283E"/>
            </a:solid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Qwen</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Reasoning &amp; tool selection</a:t>
            </a:r>
          </a:p>
        </p:txBody>
      </p:sp>
      <p:sp>
        <p:nvSpPr>
          <p:cNvPr id="5" name="Python Controller&#10;Runtime, clock &amp; state">
            <a:extLst xmlns:a="http://schemas.openxmlformats.org/drawingml/2006/main">
              <a:ext uri="{FF2B5EF4-FFF2-40B4-BE49-F238E27FC236}">
                <a16:creationId xmlns:a16="http://schemas.microsoft.com/office/drawing/2014/main" id="{9AAD75A3-E4B2-4CD3-BE20-7D187D562DB2}"/>
              </a:ext>
            </a:extLst>
          </p:cNvPr>
          <p:cNvSpPr>
            <a:spLocks xmlns:a="http://schemas.openxmlformats.org/drawingml/2006/main" noGrp="1"/>
          </p:cNvSpPr>
          <p:nvPr/>
        </p:nvSpPr>
        <p:spPr>
          <a:xfrm xmlns:a="http://schemas.openxmlformats.org/drawingml/2006/main">
            <a:off x="4619625" y="2143125"/>
            <a:ext cx="3429000" cy="981075"/>
          </a:xfrm>
          <a:prstGeom xmlns:a="http://schemas.openxmlformats.org/drawingml/2006/main" prst="rect">
            <a:avLst/>
          </a:prstGeom>
          <a:solidFill xmlns:a="http://schemas.openxmlformats.org/drawingml/2006/main">
            <a:srgbClr val="14283E"/>
          </a:solidFill>
          <a:ln xmlns:a="http://schemas.openxmlformats.org/drawingml/2006/main" w="9525">
            <a:solidFill>
              <a:srgbClr val="14283E"/>
            </a:solid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Python Controller</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Runtime, clock &amp; state</a:t>
            </a:r>
          </a:p>
        </p:txBody>
      </p:sp>
      <p:sp>
        <p:nvSpPr>
          <p:cNvPr id="7" name="Sources &amp; notebook&#10;Evidence retained">
            <a:extLst xmlns:a="http://schemas.openxmlformats.org/drawingml/2006/main">
              <a:ext uri="{FF2B5EF4-FFF2-40B4-BE49-F238E27FC236}">
                <a16:creationId xmlns:a16="http://schemas.microsoft.com/office/drawing/2014/main" id="{2CF96AA5-0953-4EE0-BCE7-CA5DD440CF2B}"/>
              </a:ext>
            </a:extLst>
          </p:cNvPr>
          <p:cNvSpPr>
            <a:spLocks xmlns:a="http://schemas.openxmlformats.org/drawingml/2006/main" noGrp="1"/>
          </p:cNvSpPr>
          <p:nvPr/>
        </p:nvSpPr>
        <p:spPr>
          <a:xfrm xmlns:a="http://schemas.openxmlformats.org/drawingml/2006/main">
            <a:off x="8810625" y="2143125"/>
            <a:ext cx="2695575" cy="981075"/>
          </a:xfrm>
          <a:prstGeom xmlns:a="http://schemas.openxmlformats.org/drawingml/2006/main" prst="rect">
            <a:avLst/>
          </a:prstGeom>
          <a:solidFill xmlns:a="http://schemas.openxmlformats.org/drawingml/2006/main">
            <a:srgbClr val="E9F3F2"/>
          </a:solidFill>
          <a:ln xmlns:a="http://schemas.openxmlformats.org/drawingml/2006/main" w="9525">
            <a:solidFill>
              <a:srgbClr val="BED5D3"/>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4283E"/>
                </a:solidFill>
                <a:latin typeface="Arial"/>
                <a:ea typeface="Arial"/>
                <a:cs typeface="Arial"/>
              </a:defRPr>
            </a:defPPr>
          </a:lstStyle>
          <a:p xmlns:a="http://schemas.openxmlformats.org/drawingml/2006/main">
            <a:pPr algn="ctr">
              <a:defRPr sz="1875" b="0">
                <a:solidFill>
                  <a:srgbClr val="14283E"/>
                </a:solidFill>
                <a:latin typeface="Arial"/>
                <a:ea typeface="Arial"/>
                <a:cs typeface="Arial"/>
              </a:defRPr>
            </a:pPr>
            <a:r>
              <a:rPr sz="1875" b="0">
                <a:solidFill>
                  <a:srgbClr val="14283E"/>
                </a:solidFill>
                <a:latin typeface="Arial"/>
                <a:ea typeface="Arial"/>
                <a:cs typeface="Arial"/>
              </a:rPr>
              <a:t>Sources &amp; notebook</a:t>
            </a:r>
          </a:p>
          <a:p xmlns:a="http://schemas.openxmlformats.org/drawingml/2006/main">
            <a:pPr algn="ctr">
              <a:defRPr sz="1875" b="0">
                <a:solidFill>
                  <a:srgbClr val="14283E"/>
                </a:solidFill>
                <a:latin typeface="Arial"/>
                <a:ea typeface="Arial"/>
                <a:cs typeface="Arial"/>
              </a:defRPr>
            </a:pPr>
            <a:r>
              <a:rPr sz="1875" b="0">
                <a:solidFill>
                  <a:srgbClr val="14283E"/>
                </a:solidFill>
                <a:latin typeface="Arial"/>
                <a:ea typeface="Arial"/>
                <a:cs typeface="Arial"/>
              </a:rPr>
              <a:t>Evidence retained</a:t>
            </a:r>
          </a:p>
        </p:txBody>
      </p:sp>
      <p:sp>
        <p:nvSpPr>
          <p:cNvPr id="9" name="Playwright tools&#10;Browser actions &amp; documents">
            <a:extLst xmlns:a="http://schemas.openxmlformats.org/drawingml/2006/main">
              <a:ext uri="{FF2B5EF4-FFF2-40B4-BE49-F238E27FC236}">
                <a16:creationId xmlns:a16="http://schemas.microsoft.com/office/drawing/2014/main" id="{680BE616-7B17-490F-B01C-EDF2D7D10DA5}"/>
              </a:ext>
            </a:extLst>
          </p:cNvPr>
          <p:cNvSpPr>
            <a:spLocks xmlns:a="http://schemas.openxmlformats.org/drawingml/2006/main" noGrp="1"/>
          </p:cNvSpPr>
          <p:nvPr/>
        </p:nvSpPr>
        <p:spPr>
          <a:xfrm xmlns:a="http://schemas.openxmlformats.org/drawingml/2006/main">
            <a:off x="685800" y="3933825"/>
            <a:ext cx="3190875" cy="1123950"/>
          </a:xfrm>
          <a:prstGeom xmlns:a="http://schemas.openxmlformats.org/drawingml/2006/main" prst="rect">
            <a:avLst/>
          </a:prstGeom>
          <a:solidFill xmlns:a="http://schemas.openxmlformats.org/drawingml/2006/main">
            <a:srgbClr val="E9F3F2"/>
          </a:solidFill>
          <a:ln xmlns:a="http://schemas.openxmlformats.org/drawingml/2006/main" w="9525">
            <a:solidFill>
              <a:srgbClr val="BED5D3"/>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4283E"/>
                </a:solidFill>
                <a:latin typeface="Arial"/>
                <a:ea typeface="Arial"/>
                <a:cs typeface="Arial"/>
              </a:defRPr>
            </a:defPPr>
          </a:lstStyle>
          <a:p xmlns:a="http://schemas.openxmlformats.org/drawingml/2006/main">
            <a:pPr algn="ctr">
              <a:defRPr sz="1875" b="0">
                <a:solidFill>
                  <a:srgbClr val="14283E"/>
                </a:solidFill>
                <a:latin typeface="Arial"/>
                <a:ea typeface="Arial"/>
                <a:cs typeface="Arial"/>
              </a:defRPr>
            </a:pPr>
            <a:r>
              <a:rPr sz="1875" b="0">
                <a:solidFill>
                  <a:srgbClr val="14283E"/>
                </a:solidFill>
                <a:latin typeface="Arial"/>
                <a:ea typeface="Arial"/>
                <a:cs typeface="Arial"/>
              </a:rPr>
              <a:t>Playwright tools</a:t>
            </a:r>
          </a:p>
          <a:p xmlns:a="http://schemas.openxmlformats.org/drawingml/2006/main">
            <a:pPr algn="ctr">
              <a:defRPr sz="1875" b="0">
                <a:solidFill>
                  <a:srgbClr val="14283E"/>
                </a:solidFill>
                <a:latin typeface="Arial"/>
                <a:ea typeface="Arial"/>
                <a:cs typeface="Arial"/>
              </a:defRPr>
            </a:pPr>
            <a:r>
              <a:rPr sz="1875" b="0">
                <a:solidFill>
                  <a:srgbClr val="14283E"/>
                </a:solidFill>
                <a:latin typeface="Arial"/>
                <a:ea typeface="Arial"/>
                <a:cs typeface="Arial"/>
              </a:rPr>
              <a:t>Browser actions &amp; documents</a:t>
            </a:r>
          </a:p>
        </p:txBody>
      </p:sp>
      <p:sp>
        <p:nvSpPr>
          <p:cNvPr id="10" name="Decimal helpers&#10;Pricing &amp; validation">
            <a:extLst xmlns:a="http://schemas.openxmlformats.org/drawingml/2006/main">
              <a:ext uri="{FF2B5EF4-FFF2-40B4-BE49-F238E27FC236}">
                <a16:creationId xmlns:a16="http://schemas.microsoft.com/office/drawing/2014/main" id="{A914B61A-929F-4A7D-93D1-63BB4B416356}"/>
              </a:ext>
            </a:extLst>
          </p:cNvPr>
          <p:cNvSpPr>
            <a:spLocks xmlns:a="http://schemas.openxmlformats.org/drawingml/2006/main" noGrp="1"/>
          </p:cNvSpPr>
          <p:nvPr/>
        </p:nvSpPr>
        <p:spPr>
          <a:xfrm xmlns:a="http://schemas.openxmlformats.org/drawingml/2006/main">
            <a:off x="4619625" y="3933825"/>
            <a:ext cx="3429000" cy="1123950"/>
          </a:xfrm>
          <a:prstGeom xmlns:a="http://schemas.openxmlformats.org/drawingml/2006/main" prst="rect">
            <a:avLst/>
          </a:prstGeom>
          <a:solidFill xmlns:a="http://schemas.openxmlformats.org/drawingml/2006/main">
            <a:srgbClr val="E9F3F2"/>
          </a:solidFill>
          <a:ln xmlns:a="http://schemas.openxmlformats.org/drawingml/2006/main" w="9525">
            <a:solidFill>
              <a:srgbClr val="BED5D3"/>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4283E"/>
                </a:solidFill>
                <a:latin typeface="Arial"/>
                <a:ea typeface="Arial"/>
                <a:cs typeface="Arial"/>
              </a:defRPr>
            </a:defPPr>
          </a:lstStyle>
          <a:p xmlns:a="http://schemas.openxmlformats.org/drawingml/2006/main">
            <a:pPr algn="ctr">
              <a:defRPr sz="1875" b="0">
                <a:solidFill>
                  <a:srgbClr val="14283E"/>
                </a:solidFill>
                <a:latin typeface="Arial"/>
                <a:ea typeface="Arial"/>
                <a:cs typeface="Arial"/>
              </a:defRPr>
            </a:pPr>
            <a:r>
              <a:rPr sz="1875" b="0">
                <a:solidFill>
                  <a:srgbClr val="14283E"/>
                </a:solidFill>
                <a:latin typeface="Arial"/>
                <a:ea typeface="Arial"/>
                <a:cs typeface="Arial"/>
              </a:rPr>
              <a:t>Decimal helpers</a:t>
            </a:r>
          </a:p>
          <a:p xmlns:a="http://schemas.openxmlformats.org/drawingml/2006/main">
            <a:pPr algn="ctr">
              <a:defRPr sz="1875" b="0">
                <a:solidFill>
                  <a:srgbClr val="14283E"/>
                </a:solidFill>
                <a:latin typeface="Arial"/>
                <a:ea typeface="Arial"/>
                <a:cs typeface="Arial"/>
              </a:defRPr>
            </a:pPr>
            <a:r>
              <a:rPr sz="1875" b="0">
                <a:solidFill>
                  <a:srgbClr val="14283E"/>
                </a:solidFill>
                <a:latin typeface="Arial"/>
                <a:ea typeface="Arial"/>
                <a:cs typeface="Arial"/>
              </a:rPr>
              <a:t>Pricing &amp; validation</a:t>
            </a:r>
          </a:p>
        </p:txBody>
      </p:sp>
      <p:sp>
        <p:nvSpPr>
          <p:cNvPr id="11" name="Bid submission&#10;Review, TAN &amp; receipt">
            <a:extLst xmlns:a="http://schemas.openxmlformats.org/drawingml/2006/main">
              <a:ext uri="{FF2B5EF4-FFF2-40B4-BE49-F238E27FC236}">
                <a16:creationId xmlns:a16="http://schemas.microsoft.com/office/drawing/2014/main" id="{3A6B3DF3-1221-4A75-9AEF-D9F1B6D73909}"/>
              </a:ext>
            </a:extLst>
          </p:cNvPr>
          <p:cNvSpPr>
            <a:spLocks xmlns:a="http://schemas.openxmlformats.org/drawingml/2006/main" noGrp="1"/>
          </p:cNvSpPr>
          <p:nvPr/>
        </p:nvSpPr>
        <p:spPr>
          <a:xfrm xmlns:a="http://schemas.openxmlformats.org/drawingml/2006/main">
            <a:off x="8810625" y="3933825"/>
            <a:ext cx="2695575" cy="1123950"/>
          </a:xfrm>
          <a:prstGeom xmlns:a="http://schemas.openxmlformats.org/drawingml/2006/main" prst="rect">
            <a:avLst/>
          </a:prstGeom>
          <a:solidFill xmlns:a="http://schemas.openxmlformats.org/drawingml/2006/main">
            <a:srgbClr val="E9F3F2"/>
          </a:solidFill>
          <a:ln xmlns:a="http://schemas.openxmlformats.org/drawingml/2006/main" w="9525">
            <a:solidFill>
              <a:srgbClr val="BED5D3"/>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4283E"/>
                </a:solidFill>
                <a:latin typeface="Arial"/>
                <a:ea typeface="Arial"/>
                <a:cs typeface="Arial"/>
              </a:defRPr>
            </a:defPPr>
          </a:lstStyle>
          <a:p xmlns:a="http://schemas.openxmlformats.org/drawingml/2006/main">
            <a:pPr algn="ctr">
              <a:defRPr sz="1875" b="0">
                <a:solidFill>
                  <a:srgbClr val="14283E"/>
                </a:solidFill>
                <a:latin typeface="Arial"/>
                <a:ea typeface="Arial"/>
                <a:cs typeface="Arial"/>
              </a:defRPr>
            </a:pPr>
            <a:r>
              <a:rPr sz="1875" b="0">
                <a:solidFill>
                  <a:srgbClr val="14283E"/>
                </a:solidFill>
                <a:latin typeface="Arial"/>
                <a:ea typeface="Arial"/>
                <a:cs typeface="Arial"/>
              </a:rPr>
              <a:t>Bid submission</a:t>
            </a:r>
          </a:p>
          <a:p xmlns:a="http://schemas.openxmlformats.org/drawingml/2006/main">
            <a:pPr algn="ctr">
              <a:defRPr sz="1875" b="0">
                <a:solidFill>
                  <a:srgbClr val="14283E"/>
                </a:solidFill>
                <a:latin typeface="Arial"/>
                <a:ea typeface="Arial"/>
                <a:cs typeface="Arial"/>
              </a:defRPr>
            </a:pPr>
            <a:r>
              <a:rPr sz="1875" b="0">
                <a:solidFill>
                  <a:srgbClr val="14283E"/>
                </a:solidFill>
                <a:latin typeface="Arial"/>
                <a:ea typeface="Arial"/>
                <a:cs typeface="Arial"/>
              </a:rPr>
              <a:t>Review, TAN &amp; receipt</a:t>
            </a:r>
          </a:p>
        </p:txBody>
      </p:sp>
      <p:sp>
        <p:nvSpPr>
          <p:cNvPr id="15" name="">
            <a:extLst xmlns:a="http://schemas.openxmlformats.org/drawingml/2006/main">
              <a:ext uri="{FF2B5EF4-FFF2-40B4-BE49-F238E27FC236}">
                <a16:creationId xmlns:a16="http://schemas.microsoft.com/office/drawing/2014/main" id="{38AA81AB-5809-4E12-92BE-7C854002AE02}"/>
              </a:ext>
            </a:extLst>
          </p:cNvPr>
          <p:cNvSpPr>
            <a:spLocks xmlns:a="http://schemas.openxmlformats.org/drawingml/2006/main" noGrp="1"/>
          </p:cNvSpPr>
          <p:nvPr/>
        </p:nvSpPr>
        <p:spPr>
          <a:xfrm xmlns:a="http://schemas.openxmlformats.org/drawingml/2006/main">
            <a:off x="685800" y="5505450"/>
            <a:ext cx="10715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526579"/>
                </a:solidFill>
                <a:latin typeface="Arial"/>
                <a:ea typeface="Arial"/>
                <a:cs typeface="Arial"/>
              </a:defRPr>
            </a:defPPr>
          </a:lstStyle>
          <a:p xmlns:a="http://schemas.openxmlformats.org/drawingml/2006/main">
            <a:pPr algn="l">
              <a:defRPr sz="2025" b="0">
                <a:solidFill>
                  <a:srgbClr val="526579"/>
                </a:solidFill>
                <a:latin typeface="Arial"/>
                <a:ea typeface="Arial"/>
                <a:cs typeface="Arial"/>
              </a:defRPr>
            </a:pPr>
            <a:r>
              <a:rPr sz="2025" b="0">
                <a:solidFill>
                  <a:srgbClr val="526579"/>
                </a:solidFill>
                <a:latin typeface="Arial"/>
                <a:ea typeface="Arial"/>
                <a:cs typeface="Arial"/>
              </a:rPr>
              <a:t>Four browser sessions requested; one controlling model loop.</a:t>
            </a:r>
          </a:p>
          <a:p xmlns:a="http://schemas.openxmlformats.org/drawingml/2006/main">
            <a:pPr algn="l">
              <a:defRPr sz="2025" b="0">
                <a:solidFill>
                  <a:srgbClr val="526579"/>
                </a:solidFill>
                <a:latin typeface="Arial"/>
                <a:ea typeface="Arial"/>
                <a:cs typeface="Arial"/>
              </a:defRPr>
            </a:pPr>
            <a:r>
              <a:rPr sz="2025" b="0">
                <a:solidFill>
                  <a:srgbClr val="526579"/>
                </a:solidFill>
                <a:latin typeface="Arial"/>
                <a:ea typeface="Arial"/>
                <a:cs typeface="Arial"/>
              </a:rPr>
              <a:t>Tools and captured evidence feed back into the next model decision.</a:t>
            </a:r>
          </a:p>
        </p:txBody>
      </p:sp>
    </p:spTree>
    <p:extLst>
      <p:ext uri="{BB962C8B-B14F-4D97-AF65-F5344CB8AC3E}">
        <p14:creationId xmlns:p14="http://schemas.microsoft.com/office/powerpoint/2010/main" val="9071389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22DFEEA-2B07-4DB2-B57E-47C218ADABEF}"/>
              </a:ext>
            </a:extLst>
          </p:cNvPr>
          <p:cNvSpPr>
            <a:spLocks xmlns:a="http://schemas.openxmlformats.org/drawingml/2006/main" noGrp="1"/>
          </p:cNvSpPr>
          <p:nvPr/>
        </p:nvSpPr>
        <p:spPr>
          <a:xfrm xmlns:a="http://schemas.openxmlformats.org/drawingml/2006/main">
            <a:off x="685800" y="5905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600" b="1">
                <a:solidFill>
                  <a:srgbClr val="14283E"/>
                </a:solidFill>
                <a:latin typeface="Arial"/>
                <a:ea typeface="Arial"/>
                <a:cs typeface="Arial"/>
              </a:defRPr>
            </a:defPPr>
          </a:lstStyle>
          <a:p xmlns:a="http://schemas.openxmlformats.org/drawingml/2006/main">
            <a:pPr algn="l">
              <a:defRPr sz="3600" b="1">
                <a:solidFill>
                  <a:srgbClr val="14283E"/>
                </a:solidFill>
                <a:latin typeface="Arial"/>
                <a:ea typeface="Arial"/>
                <a:cs typeface="Arial"/>
              </a:defRPr>
            </a:pPr>
            <a:r>
              <a:rPr sz="3600" b="1">
                <a:solidFill>
                  <a:srgbClr val="14283E"/>
                </a:solidFill>
                <a:latin typeface="Arial"/>
                <a:ea typeface="Arial"/>
                <a:cs typeface="Arial"/>
              </a:rPr>
              <a:t>Checks before the final click</a:t>
            </a:r>
          </a:p>
        </p:txBody>
      </p:sp>
      <p:sp>
        <p:nvSpPr>
          <p:cNvPr id="2" name="">
            <a:extLst xmlns:a="http://schemas.openxmlformats.org/drawingml/2006/main">
              <a:ext uri="{FF2B5EF4-FFF2-40B4-BE49-F238E27FC236}">
                <a16:creationId xmlns:a16="http://schemas.microsoft.com/office/drawing/2014/main" id="{9067C0EC-B20B-4B40-8161-F0594BF969C4}"/>
              </a:ext>
            </a:extLst>
          </p:cNvPr>
          <p:cNvSpPr>
            <a:spLocks xmlns:a="http://schemas.openxmlformats.org/drawingml/2006/main" noGrp="1"/>
          </p:cNvSpPr>
          <p:nvPr/>
        </p:nvSpPr>
        <p:spPr>
          <a:xfrm xmlns:a="http://schemas.openxmlformats.org/drawingml/2006/main">
            <a:off x="10572750" y="6324600"/>
            <a:ext cx="93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26579"/>
                </a:solidFill>
                <a:latin typeface="Arial"/>
                <a:ea typeface="Arial"/>
                <a:cs typeface="Arial"/>
              </a:defRPr>
            </a:defPPr>
          </a:lstStyle>
          <a:p xmlns:a="http://schemas.openxmlformats.org/drawingml/2006/main">
            <a:pPr algn="r">
              <a:defRPr sz="1350" b="0">
                <a:solidFill>
                  <a:srgbClr val="526579"/>
                </a:solidFill>
                <a:latin typeface="Arial"/>
                <a:ea typeface="Arial"/>
                <a:cs typeface="Arial"/>
              </a:defRPr>
            </a:pPr>
            <a:r>
              <a:rPr sz="1350" b="0">
                <a:solidFill>
                  <a:srgbClr val="526579"/>
                </a:solidFill>
                <a:latin typeface="Arial"/>
                <a:ea typeface="Arial"/>
                <a:cs typeface="Arial"/>
              </a:rPr>
              <a:t>05 / 06</a:t>
            </a:r>
          </a:p>
        </p:txBody>
      </p:sp>
      <p:sp>
        <p:nvSpPr>
          <p:cNvPr id="3" name="">
            <a:extLst xmlns:a="http://schemas.openxmlformats.org/drawingml/2006/main">
              <a:ext uri="{FF2B5EF4-FFF2-40B4-BE49-F238E27FC236}">
                <a16:creationId xmlns:a16="http://schemas.microsoft.com/office/drawing/2014/main" id="{6AD65305-01AD-41D2-B385-90AFED235D1B}"/>
              </a:ext>
            </a:extLst>
          </p:cNvPr>
          <p:cNvSpPr>
            <a:spLocks xmlns:a="http://schemas.openxmlformats.org/drawingml/2006/main" noGrp="1"/>
          </p:cNvSpPr>
          <p:nvPr/>
        </p:nvSpPr>
        <p:spPr>
          <a:xfrm xmlns:a="http://schemas.openxmlformats.org/drawingml/2006/main">
            <a:off x="685800" y="1857375"/>
            <a:ext cx="276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147D79"/>
                </a:solidFill>
                <a:latin typeface="Arial"/>
                <a:ea typeface="Arial"/>
                <a:cs typeface="Arial"/>
              </a:defRPr>
            </a:defPPr>
          </a:lstStyle>
          <a:p xmlns:a="http://schemas.openxmlformats.org/drawingml/2006/main">
            <a:pPr algn="l">
              <a:defRPr sz="2475" b="1">
                <a:solidFill>
                  <a:srgbClr val="147D79"/>
                </a:solidFill>
                <a:latin typeface="Arial"/>
                <a:ea typeface="Arial"/>
                <a:cs typeface="Arial"/>
              </a:defRPr>
            </a:pPr>
            <a:r>
              <a:rPr sz="2475" b="1">
                <a:solidFill>
                  <a:srgbClr val="147D79"/>
                </a:solidFill>
                <a:latin typeface="Arial"/>
                <a:ea typeface="Arial"/>
                <a:cs typeface="Arial"/>
              </a:rPr>
              <a:t>Evidence</a:t>
            </a:r>
          </a:p>
        </p:txBody>
      </p:sp>
      <p:sp>
        <p:nvSpPr>
          <p:cNvPr id="4" name="">
            <a:extLst xmlns:a="http://schemas.openxmlformats.org/drawingml/2006/main">
              <a:ext uri="{FF2B5EF4-FFF2-40B4-BE49-F238E27FC236}">
                <a16:creationId xmlns:a16="http://schemas.microsoft.com/office/drawing/2014/main" id="{64DC67CC-6B7D-44BE-A214-A9F1BD3A28B3}"/>
              </a:ext>
            </a:extLst>
          </p:cNvPr>
          <p:cNvSpPr>
            <a:spLocks xmlns:a="http://schemas.openxmlformats.org/drawingml/2006/main" noGrp="1"/>
          </p:cNvSpPr>
          <p:nvPr/>
        </p:nvSpPr>
        <p:spPr>
          <a:xfrm xmlns:a="http://schemas.openxmlformats.org/drawingml/2006/main">
            <a:off x="3714750" y="1885950"/>
            <a:ext cx="7696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4283E"/>
                </a:solidFill>
                <a:latin typeface="Arial"/>
                <a:ea typeface="Arial"/>
                <a:cs typeface="Arial"/>
              </a:defRPr>
            </a:defPPr>
          </a:lstStyle>
          <a:p xmlns:a="http://schemas.openxmlformats.org/drawingml/2006/main">
            <a:pPr algn="l">
              <a:defRPr sz="2175" b="0">
                <a:solidFill>
                  <a:srgbClr val="14283E"/>
                </a:solidFill>
                <a:latin typeface="Arial"/>
                <a:ea typeface="Arial"/>
                <a:cs typeface="Arial"/>
              </a:defRPr>
            </a:pPr>
            <a:r>
              <a:rPr sz="2175" b="0">
                <a:solidFill>
                  <a:srgbClr val="14283E"/>
                </a:solidFill>
                <a:latin typeface="Arial"/>
                <a:ea typeface="Arial"/>
                <a:cs typeface="Arial"/>
              </a:rPr>
              <a:t>Candidate fields require captured sources and formulas.</a:t>
            </a:r>
          </a:p>
        </p:txBody>
      </p:sp>
      <p:sp>
        <p:nvSpPr>
          <p:cNvPr id="5" name="">
            <a:extLst xmlns:a="http://schemas.openxmlformats.org/drawingml/2006/main">
              <a:ext uri="{FF2B5EF4-FFF2-40B4-BE49-F238E27FC236}">
                <a16:creationId xmlns:a16="http://schemas.microsoft.com/office/drawing/2014/main" id="{4F6FBC27-2596-4E39-AFC1-15E106A5D745}"/>
              </a:ext>
            </a:extLst>
          </p:cNvPr>
          <p:cNvSpPr>
            <a:spLocks xmlns:a="http://schemas.openxmlformats.org/drawingml/2006/main" noGrp="1"/>
          </p:cNvSpPr>
          <p:nvPr/>
        </p:nvSpPr>
        <p:spPr>
          <a:xfrm xmlns:a="http://schemas.openxmlformats.org/drawingml/2006/main">
            <a:off x="685800" y="2762250"/>
            <a:ext cx="276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147D79"/>
                </a:solidFill>
                <a:latin typeface="Arial"/>
                <a:ea typeface="Arial"/>
                <a:cs typeface="Arial"/>
              </a:defRPr>
            </a:defPPr>
          </a:lstStyle>
          <a:p xmlns:a="http://schemas.openxmlformats.org/drawingml/2006/main">
            <a:pPr algn="l">
              <a:defRPr sz="2475" b="1">
                <a:solidFill>
                  <a:srgbClr val="147D79"/>
                </a:solidFill>
                <a:latin typeface="Arial"/>
                <a:ea typeface="Arial"/>
                <a:cs typeface="Arial"/>
              </a:defRPr>
            </a:pPr>
            <a:r>
              <a:rPr sz="2475" b="1">
                <a:solidFill>
                  <a:srgbClr val="147D79"/>
                </a:solidFill>
                <a:latin typeface="Arial"/>
                <a:ea typeface="Arial"/>
                <a:cs typeface="Arial"/>
              </a:rPr>
              <a:t>Arithmetic</a:t>
            </a:r>
          </a:p>
        </p:txBody>
      </p:sp>
      <p:sp>
        <p:nvSpPr>
          <p:cNvPr id="6" name="">
            <a:extLst xmlns:a="http://schemas.openxmlformats.org/drawingml/2006/main">
              <a:ext uri="{FF2B5EF4-FFF2-40B4-BE49-F238E27FC236}">
                <a16:creationId xmlns:a16="http://schemas.microsoft.com/office/drawing/2014/main" id="{EB8EA58A-6FF0-4CCF-8807-45EE57B42B79}"/>
              </a:ext>
            </a:extLst>
          </p:cNvPr>
          <p:cNvSpPr>
            <a:spLocks xmlns:a="http://schemas.openxmlformats.org/drawingml/2006/main" noGrp="1"/>
          </p:cNvSpPr>
          <p:nvPr/>
        </p:nvSpPr>
        <p:spPr>
          <a:xfrm xmlns:a="http://schemas.openxmlformats.org/drawingml/2006/main">
            <a:off x="3714750" y="2790825"/>
            <a:ext cx="7696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4283E"/>
                </a:solidFill>
                <a:latin typeface="Arial"/>
                <a:ea typeface="Arial"/>
                <a:cs typeface="Arial"/>
              </a:defRPr>
            </a:defPPr>
          </a:lstStyle>
          <a:p xmlns:a="http://schemas.openxmlformats.org/drawingml/2006/main">
            <a:pPr algn="l">
              <a:defRPr sz="2175" b="0">
                <a:solidFill>
                  <a:srgbClr val="14283E"/>
                </a:solidFill>
                <a:latin typeface="Arial"/>
                <a:ea typeface="Arial"/>
                <a:cs typeface="Arial"/>
              </a:defRPr>
            </a:pPr>
            <a:r>
              <a:rPr sz="2175" b="0">
                <a:solidFill>
                  <a:srgbClr val="14283E"/>
                </a:solidFill>
                <a:latin typeface="Arial"/>
                <a:ea typeface="Arial"/>
                <a:cs typeface="Arial"/>
              </a:rPr>
              <a:t>Decimal helpers calculate prices and verify the total.</a:t>
            </a:r>
          </a:p>
        </p:txBody>
      </p:sp>
      <p:sp>
        <p:nvSpPr>
          <p:cNvPr id="7" name="">
            <a:extLst xmlns:a="http://schemas.openxmlformats.org/drawingml/2006/main">
              <a:ext uri="{FF2B5EF4-FFF2-40B4-BE49-F238E27FC236}">
                <a16:creationId xmlns:a16="http://schemas.microsoft.com/office/drawing/2014/main" id="{9FFF4D62-1D00-4FDA-AAD8-F2EA02B1D1AE}"/>
              </a:ext>
            </a:extLst>
          </p:cNvPr>
          <p:cNvSpPr>
            <a:spLocks xmlns:a="http://schemas.openxmlformats.org/drawingml/2006/main" noGrp="1"/>
          </p:cNvSpPr>
          <p:nvPr/>
        </p:nvSpPr>
        <p:spPr>
          <a:xfrm xmlns:a="http://schemas.openxmlformats.org/drawingml/2006/main">
            <a:off x="685800" y="3667125"/>
            <a:ext cx="276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147D79"/>
                </a:solidFill>
                <a:latin typeface="Arial"/>
                <a:ea typeface="Arial"/>
                <a:cs typeface="Arial"/>
              </a:defRPr>
            </a:defPPr>
          </a:lstStyle>
          <a:p xmlns:a="http://schemas.openxmlformats.org/drawingml/2006/main">
            <a:pPr algn="l">
              <a:defRPr sz="2475" b="1">
                <a:solidFill>
                  <a:srgbClr val="147D79"/>
                </a:solidFill>
                <a:latin typeface="Arial"/>
                <a:ea typeface="Arial"/>
                <a:cs typeface="Arial"/>
              </a:defRPr>
            </a:pPr>
            <a:r>
              <a:rPr sz="2475" b="1">
                <a:solidFill>
                  <a:srgbClr val="147D79"/>
                </a:solidFill>
                <a:latin typeface="Arial"/>
                <a:ea typeface="Arial"/>
                <a:cs typeface="Arial"/>
              </a:rPr>
              <a:t>Review</a:t>
            </a:r>
          </a:p>
        </p:txBody>
      </p:sp>
      <p:sp>
        <p:nvSpPr>
          <p:cNvPr id="8" name="">
            <a:extLst xmlns:a="http://schemas.openxmlformats.org/drawingml/2006/main">
              <a:ext uri="{FF2B5EF4-FFF2-40B4-BE49-F238E27FC236}">
                <a16:creationId xmlns:a16="http://schemas.microsoft.com/office/drawing/2014/main" id="{6B2EDD68-8944-4FEB-B8EE-164CB7642590}"/>
              </a:ext>
            </a:extLst>
          </p:cNvPr>
          <p:cNvSpPr>
            <a:spLocks xmlns:a="http://schemas.openxmlformats.org/drawingml/2006/main" noGrp="1"/>
          </p:cNvSpPr>
          <p:nvPr/>
        </p:nvSpPr>
        <p:spPr>
          <a:xfrm xmlns:a="http://schemas.openxmlformats.org/drawingml/2006/main">
            <a:off x="3714750" y="3695700"/>
            <a:ext cx="7696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4283E"/>
                </a:solidFill>
                <a:latin typeface="Arial"/>
                <a:ea typeface="Arial"/>
                <a:cs typeface="Arial"/>
              </a:defRPr>
            </a:defPPr>
          </a:lstStyle>
          <a:p xmlns:a="http://schemas.openxmlformats.org/drawingml/2006/main">
            <a:pPr algn="l">
              <a:defRPr sz="2175" b="0">
                <a:solidFill>
                  <a:srgbClr val="14283E"/>
                </a:solidFill>
                <a:latin typeface="Arial"/>
                <a:ea typeface="Arial"/>
                <a:cs typeface="Arial"/>
              </a:defRPr>
            </a:pPr>
            <a:r>
              <a:rPr sz="2175" b="0">
                <a:solidFill>
                  <a:srgbClr val="14283E"/>
                </a:solidFill>
                <a:latin typeface="Arial"/>
                <a:ea typeface="Arial"/>
                <a:cs typeface="Arial"/>
              </a:rPr>
              <a:t>Displayed portal values must match the validated bid.</a:t>
            </a:r>
          </a:p>
        </p:txBody>
      </p:sp>
      <p:sp>
        <p:nvSpPr>
          <p:cNvPr id="9" name="">
            <a:extLst xmlns:a="http://schemas.openxmlformats.org/drawingml/2006/main">
              <a:ext uri="{FF2B5EF4-FFF2-40B4-BE49-F238E27FC236}">
                <a16:creationId xmlns:a16="http://schemas.microsoft.com/office/drawing/2014/main" id="{499B8128-6A07-4528-B1EF-D1AF7D691C27}"/>
              </a:ext>
            </a:extLst>
          </p:cNvPr>
          <p:cNvSpPr>
            <a:spLocks xmlns:a="http://schemas.openxmlformats.org/drawingml/2006/main" noGrp="1"/>
          </p:cNvSpPr>
          <p:nvPr/>
        </p:nvSpPr>
        <p:spPr>
          <a:xfrm xmlns:a="http://schemas.openxmlformats.org/drawingml/2006/main">
            <a:off x="685800" y="4572000"/>
            <a:ext cx="276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147D79"/>
                </a:solidFill>
                <a:latin typeface="Arial"/>
                <a:ea typeface="Arial"/>
                <a:cs typeface="Arial"/>
              </a:defRPr>
            </a:defPPr>
          </a:lstStyle>
          <a:p xmlns:a="http://schemas.openxmlformats.org/drawingml/2006/main">
            <a:pPr algn="l">
              <a:defRPr sz="2475" b="1">
                <a:solidFill>
                  <a:srgbClr val="147D79"/>
                </a:solidFill>
                <a:latin typeface="Arial"/>
                <a:ea typeface="Arial"/>
                <a:cs typeface="Arial"/>
              </a:defRPr>
            </a:pPr>
            <a:r>
              <a:rPr sz="2475" b="1">
                <a:solidFill>
                  <a:srgbClr val="147D79"/>
                </a:solidFill>
                <a:latin typeface="Arial"/>
                <a:ea typeface="Arial"/>
                <a:cs typeface="Arial"/>
              </a:rPr>
              <a:t>Completion</a:t>
            </a:r>
          </a:p>
        </p:txBody>
      </p:sp>
      <p:sp>
        <p:nvSpPr>
          <p:cNvPr id="10" name="">
            <a:extLst xmlns:a="http://schemas.openxmlformats.org/drawingml/2006/main">
              <a:ext uri="{FF2B5EF4-FFF2-40B4-BE49-F238E27FC236}">
                <a16:creationId xmlns:a16="http://schemas.microsoft.com/office/drawing/2014/main" id="{021F2A0E-F697-4C63-BE43-BCE6CC2CEBE0}"/>
              </a:ext>
            </a:extLst>
          </p:cNvPr>
          <p:cNvSpPr>
            <a:spLocks xmlns:a="http://schemas.openxmlformats.org/drawingml/2006/main" noGrp="1"/>
          </p:cNvSpPr>
          <p:nvPr/>
        </p:nvSpPr>
        <p:spPr>
          <a:xfrm xmlns:a="http://schemas.openxmlformats.org/drawingml/2006/main">
            <a:off x="3714750" y="4600575"/>
            <a:ext cx="7696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4283E"/>
                </a:solidFill>
                <a:latin typeface="Arial"/>
                <a:ea typeface="Arial"/>
                <a:cs typeface="Arial"/>
              </a:defRPr>
            </a:defPPr>
          </a:lstStyle>
          <a:p xmlns:a="http://schemas.openxmlformats.org/drawingml/2006/main">
            <a:pPr algn="l">
              <a:defRPr sz="2175" b="0">
                <a:solidFill>
                  <a:srgbClr val="14283E"/>
                </a:solidFill>
                <a:latin typeface="Arial"/>
                <a:ea typeface="Arial"/>
                <a:cs typeface="Arial"/>
              </a:defRPr>
            </a:pPr>
            <a:r>
              <a:rPr sz="2175" b="0">
                <a:solidFill>
                  <a:srgbClr val="14283E"/>
                </a:solidFill>
                <a:latin typeface="Arial"/>
                <a:ea typeface="Arial"/>
                <a:cs typeface="Arial"/>
              </a:rPr>
              <a:t>Signing is gated; an accepted receipt is checked.</a:t>
            </a:r>
          </a:p>
        </p:txBody>
      </p:sp>
      <p:sp>
        <p:nvSpPr>
          <p:cNvPr id="11" name="">
            <a:extLst xmlns:a="http://schemas.openxmlformats.org/drawingml/2006/main">
              <a:ext uri="{FF2B5EF4-FFF2-40B4-BE49-F238E27FC236}">
                <a16:creationId xmlns:a16="http://schemas.microsoft.com/office/drawing/2014/main" id="{F83AB52C-90F5-4C2D-9596-5348CE02EDAE}"/>
              </a:ext>
            </a:extLst>
          </p:cNvPr>
          <p:cNvSpPr>
            <a:spLocks xmlns:a="http://schemas.openxmlformats.org/drawingml/2006/main" noGrp="1"/>
          </p:cNvSpPr>
          <p:nvPr/>
        </p:nvSpPr>
        <p:spPr>
          <a:xfrm xmlns:a="http://schemas.openxmlformats.org/drawingml/2006/main">
            <a:off x="685800" y="57721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526579"/>
                </a:solidFill>
                <a:latin typeface="Arial"/>
                <a:ea typeface="Arial"/>
                <a:cs typeface="Arial"/>
              </a:defRPr>
            </a:defPPr>
          </a:lstStyle>
          <a:p xmlns:a="http://schemas.openxmlformats.org/drawingml/2006/main">
            <a:pPr algn="l">
              <a:defRPr sz="1950" b="0">
                <a:solidFill>
                  <a:srgbClr val="526579"/>
                </a:solidFill>
                <a:latin typeface="Arial"/>
                <a:ea typeface="Arial"/>
                <a:cs typeface="Arial"/>
              </a:defRPr>
            </a:pPr>
            <a:r>
              <a:rPr sz="1950" b="0">
                <a:solidFill>
                  <a:srgbClr val="526579"/>
                </a:solidFill>
                <a:latin typeface="Arial"/>
                <a:ea typeface="Arial"/>
                <a:cs typeface="Arial"/>
              </a:rPr>
              <a:t>Bounded retries and a submission reserve help manage the deadline.</a:t>
            </a:r>
          </a:p>
        </p:txBody>
      </p:sp>
    </p:spTree>
    <p:extLst>
      <p:ext uri="{BB962C8B-B14F-4D97-AF65-F5344CB8AC3E}">
        <p14:creationId xmlns:p14="http://schemas.microsoft.com/office/powerpoint/2010/main" val="842906681"/>
      </p:ext>
    </p:extLst>
  </p:cSld>
</p:sld>
</file>

<file path=ppt/slides/slide6.xml><?xml version="1.0" encoding="utf-8"?>
<p:sld xmlns:p="http://schemas.openxmlformats.org/presentationml/2006/main">
  <p:cSld>
    <p:bg>
      <p:bgPr>
        <a:solidFill xmlns:a="http://schemas.openxmlformats.org/drawingml/2006/main">
          <a:srgbClr val="14283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2464C9A-0795-4848-9CD3-D55F348738CD}"/>
              </a:ext>
            </a:extLst>
          </p:cNvPr>
          <p:cNvSpPr>
            <a:spLocks xmlns:a="http://schemas.openxmlformats.org/drawingml/2006/main" noGrp="1"/>
          </p:cNvSpPr>
          <p:nvPr/>
        </p:nvSpPr>
        <p:spPr>
          <a:xfrm xmlns:a="http://schemas.openxmlformats.org/drawingml/2006/main">
            <a:off x="685800" y="5905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600" b="1">
                <a:solidFill>
                  <a:srgbClr val="FFFFFF"/>
                </a:solidFill>
                <a:latin typeface="Arial"/>
                <a:ea typeface="Arial"/>
                <a:cs typeface="Arial"/>
              </a:defRPr>
            </a:defPPr>
          </a:lstStyle>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A complete implementation, a measured result</a:t>
            </a:r>
          </a:p>
        </p:txBody>
      </p:sp>
      <p:sp>
        <p:nvSpPr>
          <p:cNvPr id="2" name="">
            <a:extLst xmlns:a="http://schemas.openxmlformats.org/drawingml/2006/main">
              <a:ext uri="{FF2B5EF4-FFF2-40B4-BE49-F238E27FC236}">
                <a16:creationId xmlns:a16="http://schemas.microsoft.com/office/drawing/2014/main" id="{970838A4-A80A-4E9A-8F7A-0929CBA07438}"/>
              </a:ext>
            </a:extLst>
          </p:cNvPr>
          <p:cNvSpPr>
            <a:spLocks xmlns:a="http://schemas.openxmlformats.org/drawingml/2006/main" noGrp="1"/>
          </p:cNvSpPr>
          <p:nvPr/>
        </p:nvSpPr>
        <p:spPr>
          <a:xfrm xmlns:a="http://schemas.openxmlformats.org/drawingml/2006/main">
            <a:off x="10572750" y="6324600"/>
            <a:ext cx="93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ABC1D2"/>
                </a:solidFill>
                <a:latin typeface="Arial"/>
                <a:ea typeface="Arial"/>
                <a:cs typeface="Arial"/>
              </a:defRPr>
            </a:defPPr>
          </a:lstStyle>
          <a:p xmlns:a="http://schemas.openxmlformats.org/drawingml/2006/main">
            <a:pPr algn="r">
              <a:defRPr sz="1350" b="0">
                <a:solidFill>
                  <a:srgbClr val="ABC1D2"/>
                </a:solidFill>
                <a:latin typeface="Arial"/>
                <a:ea typeface="Arial"/>
                <a:cs typeface="Arial"/>
              </a:defRPr>
            </a:pPr>
            <a:r>
              <a:rPr sz="1350" b="0">
                <a:solidFill>
                  <a:srgbClr val="ABC1D2"/>
                </a:solidFill>
                <a:latin typeface="Arial"/>
                <a:ea typeface="Arial"/>
                <a:cs typeface="Arial"/>
              </a:rPr>
              <a:t>06 / 06</a:t>
            </a:r>
          </a:p>
        </p:txBody>
      </p:sp>
      <p:sp>
        <p:nvSpPr>
          <p:cNvPr id="3" name="">
            <a:extLst xmlns:a="http://schemas.openxmlformats.org/drawingml/2006/main">
              <a:ext uri="{FF2B5EF4-FFF2-40B4-BE49-F238E27FC236}">
                <a16:creationId xmlns:a16="http://schemas.microsoft.com/office/drawing/2014/main" id="{8D0C6C53-02F2-46E8-9828-CD89A57222AF}"/>
              </a:ext>
            </a:extLst>
          </p:cNvPr>
          <p:cNvSpPr>
            <a:spLocks xmlns:a="http://schemas.openxmlformats.org/drawingml/2006/main" noGrp="1"/>
          </p:cNvSpPr>
          <p:nvPr/>
        </p:nvSpPr>
        <p:spPr>
          <a:xfrm xmlns:a="http://schemas.openxmlformats.org/drawingml/2006/main">
            <a:off x="685800" y="1762125"/>
            <a:ext cx="3476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6000" b="1">
                <a:solidFill>
                  <a:srgbClr val="8ADFD0"/>
                </a:solidFill>
                <a:latin typeface="Arial"/>
                <a:ea typeface="Arial"/>
                <a:cs typeface="Arial"/>
              </a:defRPr>
            </a:defPPr>
          </a:lstStyle>
          <a:p xmlns:a="http://schemas.openxmlformats.org/drawingml/2006/main">
            <a:pPr algn="l">
              <a:defRPr sz="6000" b="1">
                <a:solidFill>
                  <a:srgbClr val="8ADFD0"/>
                </a:solidFill>
                <a:latin typeface="Arial"/>
                <a:ea typeface="Arial"/>
                <a:cs typeface="Arial"/>
              </a:defRPr>
            </a:pPr>
            <a:r>
              <a:rPr sz="6000" b="1">
                <a:solidFill>
                  <a:srgbClr val="8ADFD0"/>
                </a:solidFill>
                <a:latin typeface="Arial"/>
                <a:ea typeface="Arial"/>
                <a:cs typeface="Arial"/>
              </a:rPr>
              <a:t>6th</a:t>
            </a:r>
          </a:p>
        </p:txBody>
      </p:sp>
      <p:sp>
        <p:nvSpPr>
          <p:cNvPr id="4" name="">
            <a:extLst xmlns:a="http://schemas.openxmlformats.org/drawingml/2006/main">
              <a:ext uri="{FF2B5EF4-FFF2-40B4-BE49-F238E27FC236}">
                <a16:creationId xmlns:a16="http://schemas.microsoft.com/office/drawing/2014/main" id="{ECF229A2-F07B-4B14-BC97-CE5F776B2622}"/>
              </a:ext>
            </a:extLst>
          </p:cNvPr>
          <p:cNvSpPr>
            <a:spLocks xmlns:a="http://schemas.openxmlformats.org/drawingml/2006/main" noGrp="1"/>
          </p:cNvSpPr>
          <p:nvPr/>
        </p:nvSpPr>
        <p:spPr>
          <a:xfrm xmlns:a="http://schemas.openxmlformats.org/drawingml/2006/main">
            <a:off x="4457700" y="1762125"/>
            <a:ext cx="3476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6000" b="1">
                <a:solidFill>
                  <a:srgbClr val="8ADFD0"/>
                </a:solidFill>
                <a:latin typeface="Arial"/>
                <a:ea typeface="Arial"/>
                <a:cs typeface="Arial"/>
              </a:defRPr>
            </a:defPPr>
          </a:lstStyle>
          <a:p xmlns:a="http://schemas.openxmlformats.org/drawingml/2006/main">
            <a:pPr algn="l">
              <a:defRPr sz="6000" b="1">
                <a:solidFill>
                  <a:srgbClr val="8ADFD0"/>
                </a:solidFill>
                <a:latin typeface="Arial"/>
                <a:ea typeface="Arial"/>
                <a:cs typeface="Arial"/>
              </a:defRPr>
            </a:pPr>
            <a:r>
              <a:rPr sz="6000" b="1">
                <a:solidFill>
                  <a:srgbClr val="8ADFD0"/>
                </a:solidFill>
                <a:latin typeface="Arial"/>
                <a:ea typeface="Arial"/>
                <a:cs typeface="Arial"/>
              </a:rPr>
              <a:t>100/100</a:t>
            </a:r>
          </a:p>
        </p:txBody>
      </p:sp>
      <p:sp>
        <p:nvSpPr>
          <p:cNvPr id="5" name="">
            <a:extLst xmlns:a="http://schemas.openxmlformats.org/drawingml/2006/main">
              <a:ext uri="{FF2B5EF4-FFF2-40B4-BE49-F238E27FC236}">
                <a16:creationId xmlns:a16="http://schemas.microsoft.com/office/drawing/2014/main" id="{6BEF9814-E427-4D73-9475-9DB0BA3B3630}"/>
              </a:ext>
            </a:extLst>
          </p:cNvPr>
          <p:cNvSpPr>
            <a:spLocks xmlns:a="http://schemas.openxmlformats.org/drawingml/2006/main" noGrp="1"/>
          </p:cNvSpPr>
          <p:nvPr/>
        </p:nvSpPr>
        <p:spPr>
          <a:xfrm xmlns:a="http://schemas.openxmlformats.org/drawingml/2006/main">
            <a:off x="8334375" y="1762125"/>
            <a:ext cx="3095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6000" b="1">
                <a:solidFill>
                  <a:srgbClr val="8ADFD0"/>
                </a:solidFill>
                <a:latin typeface="Arial"/>
                <a:ea typeface="Arial"/>
                <a:cs typeface="Arial"/>
              </a:defRPr>
            </a:defPPr>
          </a:lstStyle>
          <a:p xmlns:a="http://schemas.openxmlformats.org/drawingml/2006/main">
            <a:pPr algn="l">
              <a:defRPr sz="6000" b="1">
                <a:solidFill>
                  <a:srgbClr val="8ADFD0"/>
                </a:solidFill>
                <a:latin typeface="Arial"/>
                <a:ea typeface="Arial"/>
                <a:cs typeface="Arial"/>
              </a:defRPr>
            </a:pPr>
            <a:r>
              <a:rPr sz="6000" b="1">
                <a:solidFill>
                  <a:srgbClr val="8ADFD0"/>
                </a:solidFill>
                <a:latin typeface="Arial"/>
                <a:ea typeface="Arial"/>
                <a:cs typeface="Arial"/>
              </a:rPr>
              <a:t>4:25</a:t>
            </a:r>
          </a:p>
        </p:txBody>
      </p:sp>
      <p:sp>
        <p:nvSpPr>
          <p:cNvPr id="6" name="">
            <a:extLst xmlns:a="http://schemas.openxmlformats.org/drawingml/2006/main">
              <a:ext uri="{FF2B5EF4-FFF2-40B4-BE49-F238E27FC236}">
                <a16:creationId xmlns:a16="http://schemas.microsoft.com/office/drawing/2014/main" id="{9053B3B0-8F5B-4527-953C-9B46A19C065B}"/>
              </a:ext>
            </a:extLst>
          </p:cNvPr>
          <p:cNvSpPr>
            <a:spLocks xmlns:a="http://schemas.openxmlformats.org/drawingml/2006/main" noGrp="1"/>
          </p:cNvSpPr>
          <p:nvPr/>
        </p:nvSpPr>
        <p:spPr>
          <a:xfrm xmlns:a="http://schemas.openxmlformats.org/drawingml/2006/main">
            <a:off x="685800" y="2952750"/>
            <a:ext cx="3476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FFFFFF"/>
                </a:solidFill>
                <a:latin typeface="Arial"/>
                <a:ea typeface="Arial"/>
                <a:cs typeface="Arial"/>
              </a:defRPr>
            </a:def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Private final rank</a:t>
            </a:r>
          </a:p>
        </p:txBody>
      </p:sp>
      <p:sp>
        <p:nvSpPr>
          <p:cNvPr id="7" name="">
            <a:extLst xmlns:a="http://schemas.openxmlformats.org/drawingml/2006/main">
              <a:ext uri="{FF2B5EF4-FFF2-40B4-BE49-F238E27FC236}">
                <a16:creationId xmlns:a16="http://schemas.microsoft.com/office/drawing/2014/main" id="{E2A96086-840C-4A51-8764-800B3622B5F8}"/>
              </a:ext>
            </a:extLst>
          </p:cNvPr>
          <p:cNvSpPr>
            <a:spLocks xmlns:a="http://schemas.openxmlformats.org/drawingml/2006/main" noGrp="1"/>
          </p:cNvSpPr>
          <p:nvPr/>
        </p:nvSpPr>
        <p:spPr>
          <a:xfrm xmlns:a="http://schemas.openxmlformats.org/drawingml/2006/main">
            <a:off x="4457700" y="2952750"/>
            <a:ext cx="3476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FFFFFF"/>
                </a:solidFill>
                <a:latin typeface="Arial"/>
                <a:ea typeface="Arial"/>
                <a:cs typeface="Arial"/>
              </a:defRPr>
            </a:def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Quality score</a:t>
            </a:r>
          </a:p>
        </p:txBody>
      </p:sp>
      <p:sp>
        <p:nvSpPr>
          <p:cNvPr id="8" name="">
            <a:extLst xmlns:a="http://schemas.openxmlformats.org/drawingml/2006/main">
              <a:ext uri="{FF2B5EF4-FFF2-40B4-BE49-F238E27FC236}">
                <a16:creationId xmlns:a16="http://schemas.microsoft.com/office/drawing/2014/main" id="{D3772CBB-1869-40B9-9BDF-97D5DE47AFFC}"/>
              </a:ext>
            </a:extLst>
          </p:cNvPr>
          <p:cNvSpPr>
            <a:spLocks xmlns:a="http://schemas.openxmlformats.org/drawingml/2006/main" noGrp="1"/>
          </p:cNvSpPr>
          <p:nvPr/>
        </p:nvSpPr>
        <p:spPr>
          <a:xfrm xmlns:a="http://schemas.openxmlformats.org/drawingml/2006/main">
            <a:off x="8334375" y="2952750"/>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FFFFFF"/>
                </a:solidFill>
                <a:latin typeface="Arial"/>
                <a:ea typeface="Arial"/>
                <a:cs typeface="Arial"/>
              </a:defRPr>
            </a:def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Listed final runtime</a:t>
            </a:r>
          </a:p>
        </p:txBody>
      </p:sp>
      <p:sp>
        <p:nvSpPr>
          <p:cNvPr id="9" name="">
            <a:extLst xmlns:a="http://schemas.openxmlformats.org/drawingml/2006/main">
              <a:ext uri="{FF2B5EF4-FFF2-40B4-BE49-F238E27FC236}">
                <a16:creationId xmlns:a16="http://schemas.microsoft.com/office/drawing/2014/main" id="{4FA2A887-5F8A-47D2-862F-73C244809D2D}"/>
              </a:ext>
            </a:extLst>
          </p:cNvPr>
          <p:cNvSpPr>
            <a:spLocks xmlns:a="http://schemas.openxmlformats.org/drawingml/2006/main" noGrp="1"/>
          </p:cNvSpPr>
          <p:nvPr/>
        </p:nvSpPr>
        <p:spPr>
          <a:xfrm xmlns:a="http://schemas.openxmlformats.org/drawingml/2006/main">
            <a:off x="685800" y="38576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FFFFFF"/>
                </a:solidFill>
                <a:latin typeface="Arial"/>
                <a:ea typeface="Arial"/>
                <a:cs typeface="Arial"/>
              </a:defRPr>
            </a:def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Bilal Amin — complete agent implementation</a:t>
            </a:r>
          </a:p>
        </p:txBody>
      </p:sp>
      <p:sp>
        <p:nvSpPr>
          <p:cNvPr id="10" name="">
            <a:extLst xmlns:a="http://schemas.openxmlformats.org/drawingml/2006/main">
              <a:ext uri="{FF2B5EF4-FFF2-40B4-BE49-F238E27FC236}">
                <a16:creationId xmlns:a16="http://schemas.microsoft.com/office/drawing/2014/main" id="{8371932A-ABD2-4E02-ABCC-301DF2977B16}"/>
              </a:ext>
            </a:extLst>
          </p:cNvPr>
          <p:cNvSpPr>
            <a:spLocks xmlns:a="http://schemas.openxmlformats.org/drawingml/2006/main" noGrp="1"/>
          </p:cNvSpPr>
          <p:nvPr/>
        </p:nvSpPr>
        <p:spPr>
          <a:xfrm xmlns:a="http://schemas.openxmlformats.org/drawingml/2006/main">
            <a:off x="685800" y="44672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D1DEEA"/>
                </a:solidFill>
                <a:latin typeface="Arial"/>
                <a:ea typeface="Arial"/>
                <a:cs typeface="Arial"/>
              </a:defRPr>
            </a:defPPr>
          </a:lstStyle>
          <a:p xmlns:a="http://schemas.openxmlformats.org/drawingml/2006/main">
            <a:pPr algn="l">
              <a:defRPr sz="2175" b="0">
                <a:solidFill>
                  <a:srgbClr val="D1DEEA"/>
                </a:solidFill>
                <a:latin typeface="Arial"/>
                <a:ea typeface="Arial"/>
                <a:cs typeface="Arial"/>
              </a:defRPr>
            </a:pPr>
            <a:r>
              <a:rPr sz="2175" b="0">
                <a:solidFill>
                  <a:srgbClr val="D1DEEA"/>
                </a:solidFill>
                <a:latin typeface="Arial"/>
                <a:ea typeface="Arial"/>
                <a:cs typeface="Arial"/>
              </a:rPr>
              <a:t>Orchestration, browser tools, calculation helpers,</a:t>
            </a:r>
          </a:p>
          <a:p xmlns:a="http://schemas.openxmlformats.org/drawingml/2006/main">
            <a:pPr algn="l">
              <a:defRPr sz="2175" b="0">
                <a:solidFill>
                  <a:srgbClr val="D1DEEA"/>
                </a:solidFill>
                <a:latin typeface="Arial"/>
                <a:ea typeface="Arial"/>
                <a:cs typeface="Arial"/>
              </a:defRPr>
            </a:pPr>
            <a:r>
              <a:rPr sz="2175" b="0">
                <a:solidFill>
                  <a:srgbClr val="D1DEEA"/>
                </a:solidFill>
                <a:latin typeface="Arial"/>
                <a:ea typeface="Arial"/>
                <a:cs typeface="Arial"/>
              </a:rPr>
              <a:t>evidence handling, and submission validation.</a:t>
            </a:r>
          </a:p>
        </p:txBody>
      </p:sp>
      <p:sp>
        <p:nvSpPr>
          <p:cNvPr id="11" name="">
            <a:extLst xmlns:a="http://schemas.openxmlformats.org/drawingml/2006/main">
              <a:ext uri="{FF2B5EF4-FFF2-40B4-BE49-F238E27FC236}">
                <a16:creationId xmlns:a16="http://schemas.microsoft.com/office/drawing/2014/main" id="{B9CDF48F-C4DB-49E4-9742-5ADCFBAB66A8}"/>
              </a:ext>
            </a:extLst>
          </p:cNvPr>
          <p:cNvSpPr>
            <a:spLocks xmlns:a="http://schemas.openxmlformats.org/drawingml/2006/main" noGrp="1"/>
          </p:cNvSpPr>
          <p:nvPr/>
        </p:nvSpPr>
        <p:spPr>
          <a:xfrm xmlns:a="http://schemas.openxmlformats.org/drawingml/2006/main">
            <a:off x="685800" y="5638800"/>
            <a:ext cx="10191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D1DEEA"/>
                </a:solidFill>
                <a:latin typeface="Arial"/>
                <a:ea typeface="Arial"/>
                <a:cs typeface="Arial"/>
              </a:defRPr>
            </a:defPPr>
          </a:lstStyle>
          <a:p xmlns:a="http://schemas.openxmlformats.org/drawingml/2006/main">
            <a:pPr algn="l">
              <a:defRPr sz="1800" b="0">
                <a:solidFill>
                  <a:srgbClr val="D1DEEA"/>
                </a:solidFill>
                <a:latin typeface="Arial"/>
                <a:ea typeface="Arial"/>
                <a:cs typeface="Arial"/>
              </a:defRPr>
            </a:pPr>
            <a:r>
              <a:rPr sz="1800" b="0">
                <a:solidFill>
                  <a:srgbClr val="D1DEEA"/>
                </a:solidFill>
                <a:latin typeface="Arial"/>
                <a:ea typeface="Arial"/>
                <a:cs typeface="Arial"/>
              </a:rPr>
              <a:t>Top-seven finale pitch selection · Team: musedots</a:t>
            </a:r>
          </a:p>
          <a:p xmlns:a="http://schemas.openxmlformats.org/drawingml/2006/main">
            <a:pPr algn="l">
              <a:defRPr sz="1800" b="0">
                <a:solidFill>
                  <a:srgbClr val="D1DEEA"/>
                </a:solidFill>
                <a:latin typeface="Arial"/>
                <a:ea typeface="Arial"/>
                <a:cs typeface="Arial"/>
              </a:defRPr>
            </a:pPr>
            <a:r>
              <a:rPr sz="1800" b="0">
                <a:solidFill>
                  <a:srgbClr val="D1DEEA"/>
                </a:solidFill>
                <a:latin typeface="Arial"/>
                <a:ea typeface="Arial"/>
                <a:cs typeface="Arial"/>
              </a:rPr>
              <a:t>Public rank: 18th · Platform model cost: $0.2483 · Benchmark result</a:t>
            </a:r>
          </a:p>
        </p:txBody>
      </p:sp>
    </p:spTree>
    <p:extLst>
      <p:ext uri="{BB962C8B-B14F-4D97-AF65-F5344CB8AC3E}">
        <p14:creationId xmlns:p14="http://schemas.microsoft.com/office/powerpoint/2010/main" val="10147052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2026-10-13T11:19:41.9660000Z</dcterms:created>
  <dcterms:modified xsi:type="dcterms:W3CDTF">2026-10-13T11:19:41.9670000Z</dcterms:modified>
</coreProperties>
</file>